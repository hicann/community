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1" r:id="rId6"/>
    <p:sldId id="265" r:id="rId7"/>
    <p:sldId id="262" r:id="rId8"/>
    <p:sldId id="263" r:id="rId9"/>
    <p:sldId id="260" r:id="rId10"/>
    <p:sldId id="264" r:id="rId11"/>
    <p:sldId id="258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000" name="zhunaipan 00584191_uQbeZF3a" initials="authorId_AK20210901JXNSXO549653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78" d="100"/>
          <a:sy n="78" d="100"/>
        </p:scale>
        <p:origin x="72" y="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000" dt="2026-01-28T15:40:21.000" idx="1099862241">
    <p:pos x="216" y="751"/>
    <p:text>这一页看标题是SIG组结构，是不是重点就将SIG组结构，仓库相关是不是再起一页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89947" y="1399429"/>
            <a:ext cx="57358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CANN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申请模板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76792" y="2313830"/>
            <a:ext cx="591820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作者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0" i="0" u="none" strike="noStrike" kern="0" cap="none" spc="0" normalizeH="0" baseline="0" noProof="0" dirty="0">
                <a:ln>
                  <a:noFill/>
                </a:ln>
                <a:solidFill>
                  <a:srgbClr val="DDDDDD">
                    <a:lumMod val="5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/>
                <a:cs typeface="+mn-cs"/>
                <a:sym typeface="微软雅黑" panose="020B0503020204020204" pitchFamily="34" charset="-122"/>
              </a:rPr>
              <a:t>目录</a:t>
            </a:r>
            <a:endParaRPr kumimoji="0" lang="zh-CN" altLang="en-US" sz="4800" b="0" i="0" u="none" strike="noStrike" kern="0" cap="none" spc="0" normalizeH="0" baseline="0" noProof="0" dirty="0">
              <a:ln>
                <a:noFill/>
              </a:ln>
              <a:solidFill>
                <a:srgbClr val="DDDDDD">
                  <a:lumMod val="5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/>
              <a:cs typeface="+mn-cs"/>
              <a:sym typeface="微软雅黑" panose="020B0503020204020204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5157696" y="1818829"/>
            <a:ext cx="4483260" cy="2351755"/>
            <a:chOff x="7422109" y="3690364"/>
            <a:chExt cx="972161" cy="1176369"/>
          </a:xfrm>
        </p:grpSpPr>
        <p:sp>
          <p:nvSpPr>
            <p:cNvPr id="12" name="矩形 11"/>
            <p:cNvSpPr/>
            <p:nvPr/>
          </p:nvSpPr>
          <p:spPr>
            <a:xfrm>
              <a:off x="7422109" y="3690364"/>
              <a:ext cx="972161" cy="29816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/>
                </a:rPr>
                <a:t>Part 1 SIG</a:t>
              </a:r>
              <a:r>
                <a:rPr lang="zh-CN" altLang="en-US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/>
                </a:rPr>
                <a:t>组介绍</a:t>
              </a:r>
              <a:endParaRPr lang="zh-CN" altLang="en-US" sz="2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422109" y="4122696"/>
              <a:ext cx="972161" cy="296021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/>
                  <a:cs typeface="+mn-cs"/>
                </a:rPr>
                <a:t>Part 2 SIG</a:t>
              </a:r>
              <a:r>
                <a:rPr kumimoji="0" lang="zh-CN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/>
                  <a:cs typeface="+mn-cs"/>
                </a:rPr>
                <a:t>组结构</a:t>
              </a:r>
              <a:endParaRPr kumimoji="0" lang="zh-CN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/>
                <a:cs typeface="+mn-cs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422109" y="4572854"/>
              <a:ext cx="972161" cy="29387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/>
                </a:rPr>
                <a:t>Part 3 </a:t>
              </a:r>
              <a:r>
                <a:rPr lang="zh-CN" altLang="en-US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/>
                </a:rPr>
                <a:t>竞争力描述</a:t>
              </a:r>
              <a:endParaRPr lang="zh-CN" altLang="en-US" sz="2400" kern="0" dirty="0">
                <a:solidFill>
                  <a:srgbClr val="FFFFFF">
                    <a:lumMod val="75000"/>
                  </a:srgbClr>
                </a:solidFill>
                <a:latin typeface="微软雅黑" panose="020B0503020204020204" pitchFamily="34" charset="-122"/>
                <a:ea typeface="微软雅黑"/>
              </a:endParaRPr>
            </a:p>
          </p:txBody>
        </p:sp>
      </p:grpSp>
      <p:cxnSp>
        <p:nvCxnSpPr>
          <p:cNvPr id="15" name="í$ľidè"/>
          <p:cNvCxnSpPr/>
          <p:nvPr/>
        </p:nvCxn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</a:rPr>
              <a:t>组介绍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组介绍（做什么）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组定位（在</a:t>
            </a:r>
            <a:r>
              <a:rPr lang="en-US" altLang="zh-CN" dirty="0"/>
              <a:t>CANN</a:t>
            </a:r>
            <a:r>
              <a:rPr lang="zh-CN" altLang="en-US" dirty="0"/>
              <a:t>社区</a:t>
            </a:r>
            <a:r>
              <a:rPr lang="en-US" altLang="zh-CN" dirty="0"/>
              <a:t>/</a:t>
            </a:r>
            <a:r>
              <a:rPr lang="zh-CN" altLang="en-US" dirty="0"/>
              <a:t>架构中，要解决的问题，发挥的作用）</a:t>
            </a:r>
            <a:endParaRPr lang="zh-CN" altLang="en-US" dirty="0"/>
          </a:p>
          <a:p>
            <a:r>
              <a:rPr lang="en-US" altLang="zh-CN" dirty="0"/>
              <a:t>3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组目标，面向哪些用户</a:t>
            </a:r>
            <a:r>
              <a:rPr lang="en-US" altLang="zh-CN" dirty="0"/>
              <a:t>/</a:t>
            </a:r>
            <a:r>
              <a:rPr lang="zh-CN" altLang="en-US" dirty="0"/>
              <a:t>开发者，解决什么问题和诉求，构建哪些竞争力，将带来哪些价值和收益</a:t>
            </a:r>
            <a:endParaRPr lang="en-US" altLang="zh-CN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组织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</a:rPr>
              <a:t>结构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2901" y="1191986"/>
            <a:ext cx="11849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组的结构（主要</a:t>
            </a:r>
            <a:r>
              <a:rPr lang="en-US" altLang="zh-CN" dirty="0"/>
              <a:t>maintainer</a:t>
            </a:r>
            <a:r>
              <a:rPr lang="zh-CN" altLang="en-US" dirty="0"/>
              <a:t>、</a:t>
            </a:r>
            <a:r>
              <a:rPr lang="en-US" altLang="zh-CN" dirty="0"/>
              <a:t>committer</a:t>
            </a:r>
            <a:r>
              <a:rPr lang="zh-CN" altLang="en-US" dirty="0"/>
              <a:t>人员，人员简介，涉及哪些代码仓，人员分工等）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484956" y="2045044"/>
          <a:ext cx="11051540" cy="12185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8935"/>
                <a:gridCol w="1541780"/>
                <a:gridCol w="2589530"/>
                <a:gridCol w="5281295"/>
              </a:tblGrid>
              <a:tr h="45656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姓名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gitcodeID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sig</a:t>
                      </a:r>
                      <a:r>
                        <a:rPr lang="zh-CN" altLang="en-US" sz="1200"/>
                        <a:t>角色</a:t>
                      </a:r>
                      <a:r>
                        <a:rPr lang="en-US" altLang="zh-CN" sz="1200"/>
                        <a:t>(maintainer/committer)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介绍（社区贡献，工作经历，外部社区贡献经历等）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charset="0"/>
                <a:ea typeface="微软雅黑" panose="020B0503020204020204" pitchFamily="34" charset="-122"/>
              </a:rPr>
              <a:t> 仓介绍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2901" y="1191986"/>
            <a:ext cx="11849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组的主要代码仓，各代码仓定位，功能简介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398894" y="1842043"/>
          <a:ext cx="11050905" cy="12896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0585"/>
                <a:gridCol w="2012950"/>
                <a:gridCol w="6897370"/>
              </a:tblGrid>
              <a:tr h="4832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代码仓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ym typeface="+mn-ea"/>
                        </a:rPr>
                        <a:t>定位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代码仓简介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40322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40322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竞争力描述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主要竞争力点介绍（功能、性能、生态兼容、易用性等方面，可以是规划中的）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三方件依赖引入（不涉及跳过）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729596" y="1372808"/>
          <a:ext cx="10720070" cy="2856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60"/>
                <a:gridCol w="1503680"/>
                <a:gridCol w="1808480"/>
                <a:gridCol w="1899920"/>
                <a:gridCol w="1132840"/>
                <a:gridCol w="1130300"/>
                <a:gridCol w="1276985"/>
                <a:gridCol w="1170305"/>
              </a:tblGrid>
              <a:tr h="943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序号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三方件名称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上游社区地址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上游社区状态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zh-CN" altLang="en-US" sz="1400" dirty="0">
                          <a:solidFill>
                            <a:srgbClr val="0000FF"/>
                          </a:solidFill>
                        </a:rPr>
                        <a:t>发展期、成熟期、衰退期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）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社区最新发布版本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solidFill>
                            <a:schemeClr val="tx1"/>
                          </a:solidFill>
                        </a:rPr>
                        <a:t>引入版本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是否正式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License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729596" y="4916768"/>
            <a:ext cx="9097116" cy="674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400" b="0">
                <a:solidFill>
                  <a:srgbClr val="000000"/>
                </a:solidFill>
                <a:latin typeface="BlinkMacSystemFont" charset="0"/>
              </a:rPr>
              <a:t>选型指导</a:t>
            </a:r>
            <a:r>
              <a:rPr lang="zh-CN" altLang="en-US" sz="1400" b="0">
                <a:solidFill>
                  <a:srgbClr val="3D4757"/>
                </a:solidFill>
                <a:latin typeface="BlinkMacSystemFont" charset="0"/>
              </a:rPr>
              <a:t>：</a:t>
            </a:r>
            <a:endParaRPr lang="en-US" sz="1400" b="0">
              <a:solidFill>
                <a:srgbClr val="3D4757"/>
              </a:solidFill>
              <a:latin typeface="BlinkMacSystemFont" charset="0"/>
            </a:endParaRPr>
          </a:p>
          <a:p>
            <a:r>
              <a:rPr lang="en-US" sz="1200" b="0">
                <a:solidFill>
                  <a:srgbClr val="3D4757"/>
                </a:solidFill>
                <a:latin typeface="BlinkMacSystemFont" charset="0"/>
              </a:rPr>
              <a:t>https://gitcode.com/cann/community/blob/master/contributor/third_party/third_party_maintenance.md</a:t>
            </a:r>
            <a:endParaRPr lang="en-US" altLang="en-US" sz="1200" b="0">
              <a:solidFill>
                <a:srgbClr val="3D4757"/>
              </a:solidFill>
              <a:latin typeface="BlinkMacSystemFont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洞察对标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</a:rPr>
              <a:t>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、业界对标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、差异比较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未来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年规划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、未来一年的技术方向是什么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400" dirty="0">
                <a:latin typeface="Arial" panose="020B0604020202020204" pitchFamily="34" charset="0"/>
                <a:cs typeface="Arial" panose="020B0604020202020204" pitchFamily="34" charset="0"/>
              </a:rPr>
              <a:t>Thank you.</a:t>
            </a:r>
            <a:endParaRPr lang="zh-CN" alt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社区愿景：打造开放易用、技术领先的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AI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算力新生态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itchFamily="2" charset="-122"/>
              <a:ea typeface="宋体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社区使命：使能开发者基于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社区自主研究创新，构筑根深叶茂、跨产业协同共享共赢的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itchFamily="2" charset="-122"/>
                <a:ea typeface="宋体" pitchFamily="2" charset="-122"/>
                <a:cs typeface="Arial" panose="020B0604020202020204" pitchFamily="34" charset="0"/>
              </a:rPr>
              <a:t>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itchFamily="2" charset="-122"/>
              <a:ea typeface="宋体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Vision: Building an Open, Easy-to-Use, and Technology-leading AI Computing Ecosystem</a:t>
            </a:r>
            <a:endParaRPr lang="en-US" altLang="zh-CN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587" y="3938025"/>
            <a:ext cx="1600438" cy="160043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上</a:t>
            </a:r>
            <a:r>
              <a:rPr lang="en-US" altLang="zh-CN" sz="1000" dirty="0"/>
              <a:t>CANN</a:t>
            </a:r>
            <a:r>
              <a:rPr lang="zh-CN" altLang="en-US" sz="1000" dirty="0"/>
              <a:t>社区获取干货</a:t>
            </a:r>
            <a:endParaRPr lang="zh-CN" altLang="en-US" sz="1000" dirty="0"/>
          </a:p>
        </p:txBody>
      </p:sp>
      <p:sp>
        <p:nvSpPr>
          <p:cNvPr id="11" name="文本框 10"/>
          <p:cNvSpPr txBox="1"/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关注</a:t>
            </a:r>
            <a:r>
              <a:rPr lang="en-US" altLang="zh-CN" sz="1000" dirty="0"/>
              <a:t>CANN</a:t>
            </a:r>
            <a:r>
              <a:rPr lang="zh-CN" altLang="en-US" sz="1000" dirty="0"/>
              <a:t>公众号获取资讯</a:t>
            </a:r>
            <a:endParaRPr lang="zh-CN" altLang="en-US" sz="1000" dirty="0"/>
          </a:p>
        </p:txBody>
      </p:sp>
      <p:sp>
        <p:nvSpPr>
          <p:cNvPr id="14" name="文本框 13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1199</Words>
  <Application>WPS Office WWO_wpscloud_20230922035034-9147342a44</Application>
  <PresentationFormat>宽屏</PresentationFormat>
  <Paragraphs>109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宋体</vt:lpstr>
      <vt:lpstr>Wingdings</vt:lpstr>
      <vt:lpstr>微软雅黑</vt:lpstr>
      <vt:lpstr>汉仪旗黑KW 55S</vt:lpstr>
      <vt:lpstr>微软雅黑</vt:lpstr>
      <vt:lpstr>汉仪书宋二KW</vt:lpstr>
      <vt:lpstr>Kingsoft Confetti</vt:lpstr>
      <vt:lpstr>等线 Light</vt:lpstr>
      <vt:lpstr>等线</vt:lpstr>
      <vt:lpstr>汉仪中等线KW</vt:lpstr>
      <vt:lpstr>BlinkMacSystemFont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aoxuejiao</dc:creator>
  <cp:lastModifiedBy>Zengweifeng (Weifeng Zeng)</cp:lastModifiedBy>
  <dcterms:created xsi:type="dcterms:W3CDTF">2026-01-28T08:45:10Z</dcterms:created>
  <dcterms:modified xsi:type="dcterms:W3CDTF">2026-01-28T08:45:10Z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3DDF482C71CEA81A27D3D8686004DB1C_42</vt:lpwstr>
  </property>
  <property fmtid="{D5CDD505-2E9C-101B-9397-08002B2CF9AE}" pid="3" name="KSOProductBuildVer">
    <vt:lpwstr>2052-0.0.0.0</vt:lpwstr>
  </property>
</Properties>
</file>