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comments/comment1.xml" ContentType="application/vnd.openxmlformats-officedocument.presentationml.comment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9" r:id="rId5"/>
    <p:sldId id="261" r:id="rId6"/>
    <p:sldId id="265" r:id="rId7"/>
    <p:sldId id="262" r:id="rId8"/>
    <p:sldId id="263" r:id="rId9"/>
    <p:sldId id="260" r:id="rId10"/>
    <p:sldId id="264" r:id="rId11"/>
    <p:sldId id="266" r:id="rId12"/>
    <p:sldId id="258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000" name="zhunaipan 00584191_uQbeZF3a" initials="authorId_AK20210901JXNSXO549653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78" d="100"/>
          <a:sy n="78" d="100"/>
        </p:scale>
        <p:origin x="72" y="1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000" dt="2026-01-28T15:40:21.000" idx="1099862241">
    <p:pos x="216" y="751"/>
    <p:text>这一页看标题是SIG组结构，是不是重点就将SIG组结构，仓库相关是不是再起一页</p:tex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30BAFC-7326-4899-9BEC-7E31906EAAB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48170D-50DB-4052-9D2B-D15E249EAEF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jpeg"/><Relationship Id="rId2" Type="http://schemas.openxmlformats.org/officeDocument/2006/relationships/image" Target="../media/image2.png"/><Relationship Id="rId1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089947" y="1399429"/>
            <a:ext cx="573586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CANN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社区</a:t>
            </a:r>
            <a:r>
              <a:rPr lang="en-US" altLang="zh-CN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40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申请模板</a:t>
            </a:r>
            <a:endParaRPr lang="zh-CN" altLang="en-US" sz="40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176792" y="2313830"/>
            <a:ext cx="591820" cy="8299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作者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16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时间</a:t>
            </a:r>
            <a:endParaRPr lang="en-US" altLang="zh-CN" sz="1600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547073" y="2601035"/>
            <a:ext cx="3380868" cy="835742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800" b="0" i="0" u="none" strike="noStrike" kern="0" cap="none" spc="0" normalizeH="0" baseline="0" noProof="0" dirty="0">
                <a:ln>
                  <a:noFill/>
                </a:ln>
                <a:solidFill>
                  <a:srgbClr val="DDDDDD">
                    <a:lumMod val="50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  <a:sym typeface="微软雅黑" panose="020B0503020204020204" pitchFamily="34" charset="-122"/>
              </a:rPr>
              <a:t>目录</a:t>
            </a:r>
            <a:endParaRPr kumimoji="0" lang="zh-CN" altLang="en-US" sz="4800" b="0" i="0" u="none" strike="noStrike" kern="0" cap="none" spc="0" normalizeH="0" baseline="0" noProof="0" dirty="0">
              <a:ln>
                <a:noFill/>
              </a:ln>
              <a:solidFill>
                <a:srgbClr val="DDDDDD">
                  <a:lumMod val="50000"/>
                </a:srgbClr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  <a:sym typeface="微软雅黑" panose="020B0503020204020204" pitchFamily="34" charset="-122"/>
            </a:endParaRPr>
          </a:p>
        </p:txBody>
      </p:sp>
      <p:grpSp>
        <p:nvGrpSpPr>
          <p:cNvPr id="11" name="组合 10"/>
          <p:cNvGrpSpPr/>
          <p:nvPr/>
        </p:nvGrpSpPr>
        <p:grpSpPr>
          <a:xfrm>
            <a:off x="5157696" y="1818829"/>
            <a:ext cx="4483260" cy="2351755"/>
            <a:chOff x="7422109" y="3690364"/>
            <a:chExt cx="972161" cy="1176369"/>
          </a:xfrm>
        </p:grpSpPr>
        <p:sp>
          <p:nvSpPr>
            <p:cNvPr id="12" name="矩形 11"/>
            <p:cNvSpPr/>
            <p:nvPr/>
          </p:nvSpPr>
          <p:spPr>
            <a:xfrm>
              <a:off x="7422109" y="3690364"/>
              <a:ext cx="972161" cy="298162"/>
            </a:xfrm>
            <a:prstGeom prst="rect">
              <a:avLst/>
            </a:prstGeom>
            <a:solidFill>
              <a:srgbClr val="C00000"/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Part 1 SIG</a:t>
              </a:r>
              <a:r>
                <a:rPr lang="zh-CN" altLang="en-US" sz="2400" kern="0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组介绍</a:t>
              </a:r>
              <a:endParaRPr lang="zh-CN" altLang="en-US" sz="2400" kern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7422109" y="4122696"/>
              <a:ext cx="972161" cy="296021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Part 2 SIG</a:t>
              </a:r>
              <a:r>
                <a:rPr kumimoji="0" lang="zh-CN" altLang="en-US" sz="2400" b="0" i="0" u="none" strike="noStrike" kern="0" cap="none" spc="0" normalizeH="0" baseline="0" noProof="0" dirty="0">
                  <a:ln>
                    <a:noFill/>
                  </a:ln>
                  <a:solidFill>
                    <a:srgbClr val="FFFFFF">
                      <a:lumMod val="75000"/>
                    </a:srgbClr>
                  </a:solidFill>
                  <a:effectLst/>
                  <a:uLnTx/>
                  <a:uFillTx/>
                  <a:latin typeface="微软雅黑" panose="020B0503020204020204" pitchFamily="34" charset="-122"/>
                  <a:ea typeface="微软雅黑" panose="020B0503020204020204" pitchFamily="34" charset="-122"/>
                  <a:cs typeface="+mn-cs"/>
                </a:rPr>
                <a:t>组结构</a:t>
              </a:r>
              <a:endParaRPr kumimoji="0" lang="zh-CN" alt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FFFF">
                    <a:lumMod val="75000"/>
                  </a:srgbClr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7422109" y="4572854"/>
              <a:ext cx="972161" cy="293879"/>
            </a:xfrm>
            <a:prstGeom prst="rect">
              <a:avLst/>
            </a:prstGeom>
            <a:solidFill>
              <a:srgbClr val="FFFFFF">
                <a:lumMod val="95000"/>
              </a:srgbClr>
            </a:solidFill>
            <a:ln w="9525" cap="flat" cmpd="sng" algn="ctr">
              <a:solidFill>
                <a:srgbClr val="FFFFFF">
                  <a:lumMod val="65000"/>
                </a:srgbClr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 defTabSz="914400"/>
              <a:r>
                <a:rPr lang="en-US" altLang="zh-CN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Part 3 </a:t>
              </a:r>
              <a:r>
                <a:rPr lang="zh-CN" altLang="en-US" sz="2400" kern="0" dirty="0">
                  <a:solidFill>
                    <a:srgbClr val="FFFFFF">
                      <a:lumMod val="75000"/>
                    </a:srgb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竞争力描述</a:t>
              </a:r>
              <a:endParaRPr lang="zh-CN" altLang="en-US" sz="2400" kern="0" dirty="0">
                <a:solidFill>
                  <a:srgbClr val="FFFFFF">
                    <a:lumMod val="75000"/>
                  </a:srgbClr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15" name="í$ľidè"/>
          <p:cNvCxnSpPr/>
          <p:nvPr/>
        </p:nvCxnSpPr>
        <p:spPr>
          <a:xfrm>
            <a:off x="3956272" y="1890392"/>
            <a:ext cx="0" cy="2769071"/>
          </a:xfrm>
          <a:prstGeom prst="line">
            <a:avLst/>
          </a:prstGeom>
          <a:solidFill>
            <a:srgbClr val="FFCC00"/>
          </a:solidFill>
          <a:ln w="12700" cap="flat" cmpd="sng" algn="ctr">
            <a:solidFill>
              <a:schemeClr val="bg1">
                <a:lumMod val="6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</a:rPr>
              <a:t>组介绍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组介绍（做什么）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组定位（在</a:t>
            </a:r>
            <a:r>
              <a:rPr lang="en-US" altLang="zh-CN" dirty="0"/>
              <a:t>CANN</a:t>
            </a:r>
            <a:r>
              <a:rPr lang="zh-CN" altLang="en-US" dirty="0"/>
              <a:t>社区</a:t>
            </a:r>
            <a:r>
              <a:rPr lang="en-US" altLang="zh-CN" dirty="0"/>
              <a:t>/</a:t>
            </a:r>
            <a:r>
              <a:rPr lang="zh-CN" altLang="en-US" dirty="0"/>
              <a:t>架构中，要解决的问题，发挥的作用）</a:t>
            </a:r>
            <a:endParaRPr lang="zh-CN" altLang="en-US" dirty="0"/>
          </a:p>
          <a:p>
            <a:r>
              <a:rPr lang="en-US" altLang="zh-CN" dirty="0"/>
              <a:t>3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组目标，面向哪些用户</a:t>
            </a:r>
            <a:r>
              <a:rPr lang="en-US" altLang="zh-CN" dirty="0"/>
              <a:t>/</a:t>
            </a:r>
            <a:r>
              <a:rPr lang="zh-CN" altLang="en-US" dirty="0"/>
              <a:t>开发者，解决什么问题和诉求，构建哪些竞争力，将带来哪些价值和收益</a:t>
            </a:r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897890" y="3516630"/>
            <a:ext cx="4064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备注：新建</a:t>
            </a:r>
            <a:r>
              <a:rPr lang="en-US" altLang="zh-CN" sz="1400"/>
              <a:t>sig</a:t>
            </a:r>
            <a:r>
              <a:rPr lang="zh-CN" altLang="en-US" sz="1400"/>
              <a:t>命名规范请参考</a:t>
            </a:r>
            <a:r>
              <a:rPr lang="en-US" altLang="zh-CN" sz="1400"/>
              <a:t>P10</a:t>
            </a:r>
            <a:r>
              <a:rPr lang="zh-CN" altLang="en-US" sz="1400"/>
              <a:t>附录</a:t>
            </a:r>
            <a:endParaRPr lang="zh-CN" altLang="en-US" sz="14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组织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</a:rPr>
              <a:t>结构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2901" y="1191986"/>
            <a:ext cx="11849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组的结构（主要</a:t>
            </a:r>
            <a:r>
              <a:rPr lang="en-US" altLang="zh-CN" dirty="0"/>
              <a:t>maintainer</a:t>
            </a:r>
            <a:r>
              <a:rPr lang="zh-CN" altLang="en-US" dirty="0"/>
              <a:t>、</a:t>
            </a:r>
            <a:r>
              <a:rPr lang="en-US" altLang="zh-CN" dirty="0"/>
              <a:t>committer</a:t>
            </a:r>
            <a:r>
              <a:rPr lang="zh-CN" altLang="en-US" dirty="0"/>
              <a:t>人员，人员简介，涉及哪些代码仓，人员分工等）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3" name="表格 2"/>
          <p:cNvGraphicFramePr/>
          <p:nvPr/>
        </p:nvGraphicFramePr>
        <p:xfrm>
          <a:off x="484956" y="2045044"/>
          <a:ext cx="11051540" cy="121856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8935"/>
                <a:gridCol w="1541780"/>
                <a:gridCol w="2589530"/>
                <a:gridCol w="5281295"/>
              </a:tblGrid>
              <a:tr h="45656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姓名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>
                          <a:sym typeface="+mn-ea"/>
                        </a:rPr>
                        <a:t>gitcodeID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1200"/>
                        <a:t>sig</a:t>
                      </a:r>
                      <a:r>
                        <a:rPr lang="zh-CN" altLang="en-US" sz="1200"/>
                        <a:t>角色</a:t>
                      </a:r>
                      <a:r>
                        <a:rPr lang="en-US" altLang="zh-CN" sz="1200"/>
                        <a:t>(maintainer/committer)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介绍（社区贡献，工作经历，外部社区贡献经历等）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381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SIG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仓介绍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42901" y="1191986"/>
            <a:ext cx="118491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</a:t>
            </a:r>
            <a:r>
              <a:rPr lang="en-US" altLang="zh-CN" dirty="0"/>
              <a:t>SIG</a:t>
            </a:r>
            <a:r>
              <a:rPr lang="zh-CN" altLang="en-US" dirty="0"/>
              <a:t>组的主要代码仓，各代码仓定位，功能简介</a:t>
            </a:r>
            <a:endParaRPr lang="zh-CN" altLang="en-US" dirty="0">
              <a:solidFill>
                <a:srgbClr val="C00000"/>
              </a:solidFill>
            </a:endParaRPr>
          </a:p>
        </p:txBody>
      </p:sp>
      <p:graphicFrame>
        <p:nvGraphicFramePr>
          <p:cNvPr id="4" name="表格 3"/>
          <p:cNvGraphicFramePr/>
          <p:nvPr/>
        </p:nvGraphicFramePr>
        <p:xfrm>
          <a:off x="398894" y="1842043"/>
          <a:ext cx="11050905" cy="12896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40585"/>
                <a:gridCol w="2012950"/>
                <a:gridCol w="6897370"/>
              </a:tblGrid>
              <a:tr h="4832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代码仓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>
                          <a:sym typeface="+mn-ea"/>
                        </a:rPr>
                        <a:t>定位</a:t>
                      </a:r>
                      <a:endParaRPr lang="en-US" altLang="zh-CN" sz="1200">
                        <a:sym typeface="+mn-ea"/>
                      </a:endParaRPr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1200"/>
                        <a:t>代码仓简介</a:t>
                      </a:r>
                      <a:endParaRPr lang="zh-CN" altLang="en-US" sz="1200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40322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  <a:tr h="403225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竞争力描述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主要竞争力点介绍（功能、性能、生态兼容、易用性等方面，可以是规划中的）</a:t>
            </a:r>
            <a:endParaRPr lang="zh-CN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三方件依赖引入（不涉及跳过）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graphicFrame>
        <p:nvGraphicFramePr>
          <p:cNvPr id="3" name="表格 2"/>
          <p:cNvGraphicFramePr>
            <a:graphicFrameLocks noGrp="1"/>
          </p:cNvGraphicFramePr>
          <p:nvPr/>
        </p:nvGraphicFramePr>
        <p:xfrm>
          <a:off x="729596" y="1372808"/>
          <a:ext cx="10720070" cy="28562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7560"/>
                <a:gridCol w="1503680"/>
                <a:gridCol w="1808480"/>
                <a:gridCol w="1899920"/>
                <a:gridCol w="1132840"/>
                <a:gridCol w="1130300"/>
                <a:gridCol w="1276985"/>
                <a:gridCol w="1170305"/>
              </a:tblGrid>
              <a:tr h="943231"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序号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三方件名称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上游社区地址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上游社区状态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（</a:t>
                      </a:r>
                      <a:r>
                        <a:rPr lang="zh-CN" altLang="en-US" sz="1400" dirty="0">
                          <a:solidFill>
                            <a:srgbClr val="0000FF"/>
                          </a:solidFill>
                        </a:rPr>
                        <a:t>发展期、成熟期、衰退期</a:t>
                      </a:r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）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社区最新发布版本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>
                          <a:solidFill>
                            <a:schemeClr val="tx1"/>
                          </a:solidFill>
                        </a:rPr>
                        <a:t>引入版本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是否正式</a:t>
                      </a:r>
                      <a:endParaRPr lang="en-US" altLang="zh-CN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zh-CN" altLang="en-US" dirty="0">
                          <a:solidFill>
                            <a:schemeClr val="tx1"/>
                          </a:solidFill>
                        </a:rPr>
                        <a:t>发布版本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dirty="0">
                          <a:solidFill>
                            <a:schemeClr val="tx1"/>
                          </a:solidFill>
                        </a:rPr>
                        <a:t>License</a:t>
                      </a:r>
                      <a:endParaRPr lang="zh-CN" alt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37687"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" name="文本框 1"/>
          <p:cNvSpPr txBox="1"/>
          <p:nvPr/>
        </p:nvSpPr>
        <p:spPr>
          <a:xfrm>
            <a:off x="729596" y="4916768"/>
            <a:ext cx="9097116" cy="6743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 sz="1400" b="0">
                <a:solidFill>
                  <a:srgbClr val="000000"/>
                </a:solidFill>
                <a:latin typeface="BlinkMacSystemFont" charset="0"/>
              </a:rPr>
              <a:t>选型指导</a:t>
            </a:r>
            <a:r>
              <a:rPr lang="zh-CN" altLang="en-US" sz="1400" b="0">
                <a:solidFill>
                  <a:srgbClr val="3D4757"/>
                </a:solidFill>
                <a:latin typeface="BlinkMacSystemFont" charset="0"/>
              </a:rPr>
              <a:t>：</a:t>
            </a:r>
            <a:endParaRPr lang="en-US" sz="1400" b="0">
              <a:solidFill>
                <a:srgbClr val="3D4757"/>
              </a:solidFill>
              <a:latin typeface="BlinkMacSystemFont" charset="0"/>
            </a:endParaRPr>
          </a:p>
          <a:p>
            <a:r>
              <a:rPr lang="en-US" sz="1200" b="0">
                <a:solidFill>
                  <a:srgbClr val="3D4757"/>
                </a:solidFill>
                <a:latin typeface="BlinkMacSystemFont" charset="0"/>
              </a:rPr>
              <a:t>https://gitcode.com/cann/community/blob/master/contributor/third_party/third_party_maintenance.md</a:t>
            </a:r>
            <a:endParaRPr lang="en-US" altLang="en-US" sz="1200" b="0">
              <a:solidFill>
                <a:srgbClr val="3D4757"/>
              </a:solidFill>
              <a:latin typeface="BlinkMacSystemFont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洞察对标</a:t>
            </a:r>
            <a:r>
              <a:rPr lang="zh-CN" altLang="en-US" b="1" dirty="0">
                <a:solidFill>
                  <a:srgbClr val="C00000"/>
                </a:solidFill>
                <a:latin typeface="微软雅黑" panose="020B0503020204020204" pitchFamily="34" charset="-122"/>
              </a:rPr>
              <a:t>（不涉及跳过）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、业界对标</a:t>
            </a:r>
            <a:endParaRPr lang="en-US" altLang="zh-CN" dirty="0"/>
          </a:p>
          <a:p>
            <a:r>
              <a:rPr lang="en-US" altLang="zh-CN" dirty="0"/>
              <a:t>2</a:t>
            </a:r>
            <a:r>
              <a:rPr lang="zh-CN" altLang="en-US" dirty="0"/>
              <a:t>、差异比较</a:t>
            </a:r>
            <a:endParaRPr lang="zh-CN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未来</a:t>
            </a:r>
            <a:r>
              <a:rPr lang="en-US" alt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</a:t>
            </a:r>
            <a:r>
              <a:rPr lang="zh-CN" altLang="en-US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年规划</a:t>
            </a:r>
            <a:endParaRPr lang="zh-CN" altLang="en-US" sz="2400" b="1" dirty="0">
              <a:solidFill>
                <a:srgbClr val="C00000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729615" y="1191986"/>
            <a:ext cx="107202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1</a:t>
            </a:r>
            <a:r>
              <a:rPr lang="zh-CN" altLang="en-US" dirty="0"/>
              <a:t>、未来一年的技术方向是什么</a:t>
            </a:r>
            <a:endParaRPr lang="zh-CN" alt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17" name="文本框 16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sp>
        <p:nvSpPr>
          <p:cNvPr id="16" name="副标题 1"/>
          <p:cNvSpPr txBox="1"/>
          <p:nvPr/>
        </p:nvSpPr>
        <p:spPr>
          <a:xfrm>
            <a:off x="729615" y="326390"/>
            <a:ext cx="11099165" cy="581025"/>
          </a:xfrm>
          <a:prstGeom prst="rect">
            <a:avLst/>
          </a:prstGeom>
        </p:spPr>
        <p:txBody>
          <a:bodyPr lIns="0" tIns="0" rIns="0" bIns="0" anchor="ctr" anchorCtr="0">
            <a:normAutofit/>
          </a:bodyPr>
          <a:lstStyle>
            <a:lvl1pPr marL="0" indent="0" algn="l" defTabSz="1187450" rtl="0" eaLnBrk="1" latinLnBrk="0" hangingPunct="1">
              <a:lnSpc>
                <a:spcPts val="3430"/>
              </a:lnSpc>
              <a:spcBef>
                <a:spcPts val="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9372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5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8745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33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8117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7490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6799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6171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155440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749165" indent="0" algn="ctr" defTabSz="1187450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None/>
              <a:defRPr sz="2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zh-CN" sz="2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附录</a:t>
            </a:r>
            <a:endParaRPr lang="zh-CN" sz="2400" b="1" dirty="0">
              <a:solidFill>
                <a:srgbClr val="C0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729615" y="1191986"/>
            <a:ext cx="10720263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>
                <a:ea typeface="+mn-lt"/>
                <a:cs typeface="+mn-lt"/>
              </a:rPr>
              <a:t>新建</a:t>
            </a:r>
            <a:r>
              <a:rPr lang="en-US" altLang="zh-CN" b="1" dirty="0">
                <a:ea typeface="+mn-lt"/>
                <a:cs typeface="+mn-lt"/>
              </a:rPr>
              <a:t>sig</a:t>
            </a:r>
            <a:r>
              <a:rPr lang="zh-CN" altLang="en-US" b="1" dirty="0">
                <a:ea typeface="+mn-lt"/>
                <a:cs typeface="+mn-lt"/>
              </a:rPr>
              <a:t>命名规范：</a:t>
            </a:r>
            <a:endParaRPr lang="zh-CN" altLang="en-US" b="1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1</a:t>
            </a:r>
            <a:r>
              <a:rPr lang="zh-CN" altLang="en-US" dirty="0">
                <a:ea typeface="+mn-lt"/>
                <a:cs typeface="+mn-lt"/>
              </a:rPr>
              <a:t>、简洁清晰：一眼看懂领域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职责，无歧义。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2</a:t>
            </a:r>
            <a:r>
              <a:rPr lang="zh-CN" altLang="en-US" dirty="0">
                <a:ea typeface="+mn-lt"/>
                <a:cs typeface="+mn-lt"/>
              </a:rPr>
              <a:t>、名词优先：建议优先使用名词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名词短语，少动词、形容词。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3</a:t>
            </a:r>
            <a:r>
              <a:rPr lang="zh-CN" altLang="en-US" dirty="0">
                <a:ea typeface="+mn-lt"/>
                <a:cs typeface="+mn-lt"/>
              </a:rPr>
              <a:t>、统一格式：原则上应全小写，中划线分割（</a:t>
            </a:r>
            <a:r>
              <a:rPr lang="en-US" altLang="zh-CN" dirty="0">
                <a:ea typeface="+mn-lt"/>
                <a:cs typeface="+mn-lt"/>
              </a:rPr>
              <a:t>lower-with-hyphen</a:t>
            </a:r>
            <a:r>
              <a:rPr lang="zh-CN" altLang="en-US" dirty="0">
                <a:ea typeface="+mn-lt"/>
                <a:cs typeface="+mn-lt"/>
              </a:rPr>
              <a:t>），无空格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下划线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驼峰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特殊字符，单词数量建议不超过</a:t>
            </a:r>
            <a:r>
              <a:rPr lang="en-US" altLang="zh-CN" dirty="0">
                <a:ea typeface="+mn-lt"/>
                <a:cs typeface="+mn-lt"/>
              </a:rPr>
              <a:t>3</a:t>
            </a:r>
            <a:r>
              <a:rPr lang="zh-CN" altLang="en-US" dirty="0">
                <a:ea typeface="+mn-lt"/>
                <a:cs typeface="+mn-lt"/>
              </a:rPr>
              <a:t>个。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4</a:t>
            </a:r>
            <a:r>
              <a:rPr lang="zh-CN" altLang="en-US" dirty="0">
                <a:ea typeface="+mn-lt"/>
                <a:cs typeface="+mn-lt"/>
              </a:rPr>
              <a:t>、唯一不重复：不与现有</a:t>
            </a:r>
            <a:r>
              <a:rPr lang="en-US" altLang="zh-CN" dirty="0">
                <a:ea typeface="+mn-lt"/>
                <a:cs typeface="+mn-lt"/>
              </a:rPr>
              <a:t>SIG</a:t>
            </a:r>
            <a:r>
              <a:rPr lang="zh-CN" altLang="en-US" dirty="0">
                <a:ea typeface="+mn-lt"/>
                <a:cs typeface="+mn-lt"/>
              </a:rPr>
              <a:t>、项目重名。</a:t>
            </a:r>
            <a:endParaRPr lang="zh-CN" altLang="en-US" dirty="0">
              <a:ea typeface="+mn-lt"/>
              <a:cs typeface="+mn-lt"/>
            </a:endParaRPr>
          </a:p>
          <a:p>
            <a:pPr indent="457200"/>
            <a:r>
              <a:rPr lang="en-US" altLang="zh-CN" dirty="0">
                <a:ea typeface="+mn-lt"/>
                <a:cs typeface="+mn-lt"/>
              </a:rPr>
              <a:t>5</a:t>
            </a:r>
            <a:r>
              <a:rPr lang="zh-CN" altLang="en-US" dirty="0">
                <a:ea typeface="+mn-lt"/>
                <a:cs typeface="+mn-lt"/>
              </a:rPr>
              <a:t>、命名格式：</a:t>
            </a:r>
            <a:r>
              <a:rPr lang="en-US" altLang="zh-CN" dirty="0">
                <a:ea typeface="+mn-lt"/>
                <a:cs typeface="+mn-lt"/>
              </a:rPr>
              <a:t>&lt;</a:t>
            </a:r>
            <a:r>
              <a:rPr lang="zh-CN" altLang="en-US" dirty="0">
                <a:ea typeface="+mn-lt"/>
                <a:cs typeface="+mn-lt"/>
              </a:rPr>
              <a:t>领域</a:t>
            </a:r>
            <a:r>
              <a:rPr lang="en-US" altLang="zh-CN" dirty="0">
                <a:ea typeface="+mn-lt"/>
                <a:cs typeface="+mn-lt"/>
              </a:rPr>
              <a:t>/</a:t>
            </a:r>
            <a:r>
              <a:rPr lang="zh-CN" altLang="en-US" dirty="0">
                <a:ea typeface="+mn-lt"/>
                <a:cs typeface="+mn-lt"/>
              </a:rPr>
              <a:t>主题</a:t>
            </a:r>
            <a:r>
              <a:rPr lang="en-US" altLang="zh-CN" dirty="0">
                <a:ea typeface="+mn-lt"/>
                <a:cs typeface="+mn-lt"/>
              </a:rPr>
              <a:t>&gt;</a:t>
            </a:r>
            <a:r>
              <a:rPr lang="zh-CN" altLang="en-US" dirty="0">
                <a:ea typeface="+mn-lt"/>
                <a:cs typeface="+mn-lt"/>
              </a:rPr>
              <a:t>，例如</a:t>
            </a:r>
            <a:r>
              <a:rPr lang="en-US" altLang="zh-CN" dirty="0">
                <a:ea typeface="+mn-lt"/>
                <a:cs typeface="+mn-lt"/>
              </a:rPr>
              <a:t>hccl</a:t>
            </a:r>
            <a:r>
              <a:rPr lang="zh-CN" altLang="en-US" dirty="0">
                <a:ea typeface="+mn-lt"/>
                <a:cs typeface="+mn-lt"/>
              </a:rPr>
              <a:t>、</a:t>
            </a:r>
            <a:r>
              <a:rPr lang="en-US" altLang="zh-CN" dirty="0">
                <a:ea typeface="+mn-lt"/>
                <a:cs typeface="+mn-lt"/>
              </a:rPr>
              <a:t>ops-basic</a:t>
            </a:r>
            <a:r>
              <a:rPr lang="zh-CN" altLang="en-US" dirty="0">
                <a:ea typeface="+mn-lt"/>
                <a:cs typeface="+mn-lt"/>
              </a:rPr>
              <a:t>。</a:t>
            </a:r>
            <a:endParaRPr lang="zh-CN" alt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874644" y="1208599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5400" dirty="0">
                <a:latin typeface="Arial" panose="020B0604020202020204" pitchFamily="34" charset="0"/>
                <a:cs typeface="Arial" panose="020B0604020202020204" pitchFamily="34" charset="0"/>
              </a:rPr>
              <a:t>Thank you.</a:t>
            </a:r>
            <a:endParaRPr lang="zh-CN" alt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6400801" y="1393264"/>
            <a:ext cx="4699220" cy="23259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社区愿景：打造开放易用、技术领先的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AI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算力新生态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社区使命：使能开发者基于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社区自主研究创新，构筑根深叶茂、跨产业协同共享共赢的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CANN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  <a:latin typeface="宋体" panose="02010600030101010101" pitchFamily="2" charset="-122"/>
                <a:ea typeface="宋体" panose="02010600030101010101" pitchFamily="2" charset="-122"/>
                <a:cs typeface="Arial" panose="020B0604020202020204" pitchFamily="34" charset="0"/>
              </a:rPr>
              <a:t>生态</a:t>
            </a: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宋体" panose="02010600030101010101" pitchFamily="2" charset="-122"/>
              <a:ea typeface="宋体" panose="02010600030101010101" pitchFamily="2" charset="-122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altLang="zh-CN" sz="1200" dirty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Vision: Building an Open, Easy-to-Use, and Technology-leading AI Computing Ecosystem</a:t>
            </a:r>
            <a:endParaRPr lang="en-US" altLang="zh-CN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Mission: Enable developers to independently research and innovate based on the CANN community and build a win-win CANN ecosystem with deep roots and cross-industry collaboration and sharing.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587" y="3938025"/>
            <a:ext cx="1600438" cy="1600438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7202" y="6042990"/>
            <a:ext cx="1312676" cy="348426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7056392" y="5538463"/>
            <a:ext cx="14302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上</a:t>
            </a:r>
            <a:r>
              <a:rPr lang="en-US" altLang="zh-CN" sz="1000" dirty="0"/>
              <a:t>CANN</a:t>
            </a:r>
            <a:r>
              <a:rPr lang="zh-CN" altLang="en-US" sz="1000" dirty="0"/>
              <a:t>社区获取干货</a:t>
            </a:r>
            <a:endParaRPr lang="zh-CN" altLang="en-US" sz="1000" dirty="0"/>
          </a:p>
        </p:txBody>
      </p:sp>
      <p:sp>
        <p:nvSpPr>
          <p:cNvPr id="11" name="文本框 10"/>
          <p:cNvSpPr txBox="1"/>
          <p:nvPr/>
        </p:nvSpPr>
        <p:spPr>
          <a:xfrm>
            <a:off x="8741387" y="5538463"/>
            <a:ext cx="168668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000" dirty="0"/>
              <a:t>关注</a:t>
            </a:r>
            <a:r>
              <a:rPr lang="en-US" altLang="zh-CN" sz="1000" dirty="0"/>
              <a:t>CANN</a:t>
            </a:r>
            <a:r>
              <a:rPr lang="zh-CN" altLang="en-US" sz="1000" dirty="0"/>
              <a:t>公众号获取资讯</a:t>
            </a:r>
            <a:endParaRPr lang="zh-CN" altLang="en-US" sz="1000" dirty="0"/>
          </a:p>
        </p:txBody>
      </p:sp>
      <p:sp>
        <p:nvSpPr>
          <p:cNvPr id="14" name="文本框 13"/>
          <p:cNvSpPr txBox="1"/>
          <p:nvPr/>
        </p:nvSpPr>
        <p:spPr>
          <a:xfrm>
            <a:off x="620201" y="6130454"/>
            <a:ext cx="15472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00" dirty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  <a:cs typeface="Arial" panose="020B0604020202020204" pitchFamily="34" charset="0"/>
              </a:rPr>
              <a:t>https://gitcode.com/cann</a:t>
            </a:r>
            <a:endParaRPr lang="zh-CN" altLang="en-US" sz="1000" dirty="0">
              <a:solidFill>
                <a:schemeClr val="bg1">
                  <a:lumMod val="50000"/>
                </a:schemeClr>
              </a:solidFill>
              <a:latin typeface="+mj-ea"/>
              <a:ea typeface="+mj-ea"/>
              <a:cs typeface="Arial" panose="020B0604020202020204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96584" y="3898269"/>
            <a:ext cx="1686679" cy="168667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1426</Words>
  <Application>WPS 演示</Application>
  <PresentationFormat>宽屏</PresentationFormat>
  <Paragraphs>122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2" baseType="lpstr">
      <vt:lpstr>Arial</vt:lpstr>
      <vt:lpstr>宋体</vt:lpstr>
      <vt:lpstr>Wingdings</vt:lpstr>
      <vt:lpstr>微软雅黑</vt:lpstr>
      <vt:lpstr>BlinkMacSystemFont</vt:lpstr>
      <vt:lpstr>Segoe Print</vt:lpstr>
      <vt:lpstr>等线 Light</vt:lpstr>
      <vt:lpstr>Arial Unicode MS</vt:lpstr>
      <vt:lpstr>等线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aoxuejiao</dc:creator>
  <cp:lastModifiedBy>Administrator</cp:lastModifiedBy>
  <cp:revision>10</cp:revision>
  <dcterms:created xsi:type="dcterms:W3CDTF">2026-02-27T07:29:26Z</dcterms:created>
  <dcterms:modified xsi:type="dcterms:W3CDTF">2026-02-27T08:17:46Z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3DDF482C71CEA81A27D3D8686004DB1C_42</vt:lpwstr>
  </property>
  <property fmtid="{D5CDD505-2E9C-101B-9397-08002B2CF9AE}" pid="3" name="KSOProductBuildVer">
    <vt:lpwstr>2052-12.1.0.25222</vt:lpwstr>
  </property>
</Properties>
</file>