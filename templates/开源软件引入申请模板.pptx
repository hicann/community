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62" r:id="rId5"/>
    <p:sldId id="265" r:id="rId6"/>
    <p:sldId id="258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C00000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78" d="100"/>
          <a:sy n="78" d="100"/>
        </p:scale>
        <p:origin x="72" y="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BAFC-7326-4899-9BEC-7E31906EAAB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70D-50DB-4052-9D2B-D15E249EAEF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BAFC-7326-4899-9BEC-7E31906EAAB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70D-50DB-4052-9D2B-D15E249EAEF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BAFC-7326-4899-9BEC-7E31906EAAB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70D-50DB-4052-9D2B-D15E249EAEF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BAFC-7326-4899-9BEC-7E31906EAAB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70D-50DB-4052-9D2B-D15E249EAEF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BAFC-7326-4899-9BEC-7E31906EAAB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70D-50DB-4052-9D2B-D15E249EAEF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BAFC-7326-4899-9BEC-7E31906EAAB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70D-50DB-4052-9D2B-D15E249EAEF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BAFC-7326-4899-9BEC-7E31906EAAB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70D-50DB-4052-9D2B-D15E249EAEF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BAFC-7326-4899-9BEC-7E31906EAAB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70D-50DB-4052-9D2B-D15E249EAEF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BAFC-7326-4899-9BEC-7E31906EAAB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70D-50DB-4052-9D2B-D15E249EAEF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BAFC-7326-4899-9BEC-7E31906EAAB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70D-50DB-4052-9D2B-D15E249EAEF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0BAFC-7326-4899-9BEC-7E31906EAAB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170D-50DB-4052-9D2B-D15E249EAEF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30BAFC-7326-4899-9BEC-7E31906EAAB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48170D-50DB-4052-9D2B-D15E249EAEF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jpeg"/><Relationship Id="rId2" Type="http://schemas.openxmlformats.org/officeDocument/2006/relationships/image" Target="../media/image2.pn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/>
          <p:cNvSpPr txBox="1"/>
          <p:nvPr/>
        </p:nvSpPr>
        <p:spPr>
          <a:xfrm>
            <a:off x="620201" y="6130454"/>
            <a:ext cx="15472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  <a:cs typeface="Arial" panose="02080604020202020204" pitchFamily="34" charset="0"/>
              </a:rPr>
              <a:t>https://gitcode.com/cann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+mj-ea"/>
              <a:ea typeface="+mj-ea"/>
              <a:cs typeface="Arial" panose="0208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89947" y="1399429"/>
            <a:ext cx="7861935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CANN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社区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开源软件引入申请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76791" y="2313830"/>
            <a:ext cx="2293029" cy="787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作者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时间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555625" y="2600960"/>
            <a:ext cx="2459990" cy="83566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0" i="0" u="none" strike="noStrike" kern="0" cap="none" spc="0" normalizeH="0" baseline="0" noProof="0" dirty="0">
                <a:ln>
                  <a:noFill/>
                </a:ln>
                <a:solidFill>
                  <a:srgbClr val="DDDDDD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/>
                <a:cs typeface="+mn-cs"/>
                <a:sym typeface="微软雅黑" panose="020B0503020204020204" pitchFamily="34" charset="-122"/>
              </a:rPr>
              <a:t>目录</a:t>
            </a:r>
            <a:endParaRPr kumimoji="0" lang="zh-CN" altLang="en-US" sz="4800" b="0" i="0" u="none" strike="noStrike" kern="0" cap="none" spc="0" normalizeH="0" baseline="0" noProof="0" dirty="0">
              <a:ln>
                <a:noFill/>
              </a:ln>
              <a:solidFill>
                <a:srgbClr val="DDDDDD">
                  <a:lumMod val="50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/>
              <a:cs typeface="+mn-cs"/>
              <a:sym typeface="微软雅黑" panose="020B0503020204020204" pitchFamily="34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4395470" y="2254885"/>
            <a:ext cx="5867400" cy="1456055"/>
            <a:chOff x="7422109" y="3690364"/>
            <a:chExt cx="972161" cy="728353"/>
          </a:xfrm>
        </p:grpSpPr>
        <p:sp>
          <p:nvSpPr>
            <p:cNvPr id="12" name="矩形 11"/>
            <p:cNvSpPr/>
            <p:nvPr/>
          </p:nvSpPr>
          <p:spPr>
            <a:xfrm>
              <a:off x="7422109" y="3690364"/>
              <a:ext cx="972161" cy="298162"/>
            </a:xfrm>
            <a:prstGeom prst="rect">
              <a:avLst/>
            </a:prstGeom>
            <a:solidFill>
              <a:srgbClr val="C00000"/>
            </a:solidFill>
            <a:ln w="9525" cap="flat" cmpd="sng" algn="ctr">
              <a:solidFill>
                <a:srgbClr val="FFFFFF">
                  <a:lumMod val="65000"/>
                </a:srgb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l" defTabSz="914400"/>
              <a:r>
                <a:rPr lang="en-US" altLang="zh-CN" sz="2400" kern="0" dirty="0">
                  <a:solidFill>
                    <a:schemeClr val="bg1"/>
                  </a:solidFill>
                  <a:latin typeface="微软雅黑" charset="0"/>
                  <a:ea typeface="微软雅黑" charset="0"/>
                  <a:cs typeface="微软雅黑" charset="0"/>
                </a:rPr>
                <a:t>Part 1 XXX</a:t>
              </a:r>
              <a:r>
                <a:rPr lang="zh-CN" altLang="en-US" sz="2400" kern="0" dirty="0">
                  <a:solidFill>
                    <a:schemeClr val="bg1"/>
                  </a:solidFill>
                  <a:latin typeface="微软雅黑" charset="0"/>
                  <a:ea typeface="微软雅黑" charset="0"/>
                  <a:cs typeface="微软雅黑" charset="0"/>
                </a:rPr>
                <a:t>开源软件介绍</a:t>
              </a:r>
              <a:endParaRPr lang="zh-CN" altLang="en-US" sz="2400" kern="0" dirty="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7422109" y="4122696"/>
              <a:ext cx="972161" cy="296021"/>
            </a:xfrm>
            <a:prstGeom prst="rect">
              <a:avLst/>
            </a:prstGeom>
            <a:solidFill>
              <a:srgbClr val="C00000"/>
            </a:solidFill>
            <a:ln w="9525" cap="flat" cmpd="sng" algn="ctr">
              <a:solidFill>
                <a:srgbClr val="FFFFFF">
                  <a:lumMod val="65000"/>
                </a:srgbClr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l">
                <a:buClrTx/>
                <a:buSzTx/>
                <a:buFontTx/>
              </a:pPr>
              <a:r>
                <a:rPr lang="en-US" altLang="zh-CN" sz="2400" kern="0" dirty="0">
                  <a:solidFill>
                    <a:schemeClr val="bg1"/>
                  </a:solidFill>
                  <a:latin typeface="微软雅黑" charset="0"/>
                  <a:ea typeface="微软雅黑" charset="0"/>
                  <a:cs typeface="微软雅黑" charset="0"/>
                  <a:sym typeface="+mn-ea"/>
                </a:rPr>
                <a:t>Part 2 </a:t>
              </a:r>
              <a:r>
                <a:rPr lang="en-US" altLang="zh-CN" sz="2400" kern="0" dirty="0">
                  <a:solidFill>
                    <a:schemeClr val="bg1"/>
                  </a:solidFill>
                  <a:latin typeface="微软雅黑" charset="0"/>
                  <a:ea typeface="微软雅黑" charset="0"/>
                  <a:cs typeface="微软雅黑" charset="0"/>
                  <a:sym typeface="+mn-ea"/>
                </a:rPr>
                <a:t>XXX开源软件选型评估</a:t>
              </a:r>
              <a:endParaRPr lang="en-US" altLang="zh-CN" sz="2400" kern="0" dirty="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endParaRPr>
            </a:p>
          </p:txBody>
        </p:sp>
      </p:grpSp>
      <p:cxnSp>
        <p:nvCxnSpPr>
          <p:cNvPr id="15" name="í$ľidè"/>
          <p:cNvCxnSpPr/>
          <p:nvPr/>
        </p:nvCxnSpPr>
        <p:spPr>
          <a:xfrm>
            <a:off x="3354292" y="1790062"/>
            <a:ext cx="0" cy="2769071"/>
          </a:xfrm>
          <a:prstGeom prst="line">
            <a:avLst/>
          </a:prstGeom>
          <a:solidFill>
            <a:srgbClr val="FFCC00"/>
          </a:solidFill>
          <a:ln w="1270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8" name="图片 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7202" y="6042990"/>
            <a:ext cx="1312676" cy="348426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620201" y="6130454"/>
            <a:ext cx="15472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  <a:cs typeface="Arial" panose="02080604020202020204" pitchFamily="34" charset="0"/>
              </a:rPr>
              <a:t>https://gitcode.com/cann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+mj-ea"/>
              <a:ea typeface="+mj-ea"/>
              <a:cs typeface="Arial" panose="0208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7202" y="6042990"/>
            <a:ext cx="1312676" cy="348426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620201" y="6130454"/>
            <a:ext cx="15472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  <a:cs typeface="Arial" panose="02080604020202020204" pitchFamily="34" charset="0"/>
              </a:rPr>
              <a:t>https://gitcode.com/cann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+mj-ea"/>
              <a:ea typeface="+mj-ea"/>
              <a:cs typeface="Arial" panose="02080604020202020204" pitchFamily="34" charset="0"/>
            </a:endParaRPr>
          </a:p>
        </p:txBody>
      </p:sp>
      <p:sp>
        <p:nvSpPr>
          <p:cNvPr id="16" name="副标题 1"/>
          <p:cNvSpPr txBox="1"/>
          <p:nvPr/>
        </p:nvSpPr>
        <p:spPr>
          <a:xfrm>
            <a:off x="729615" y="326390"/>
            <a:ext cx="10720705" cy="581025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 algn="l" defTabSz="1187450" rtl="0" eaLnBrk="1" latinLnBrk="0" hangingPunct="1">
              <a:lnSpc>
                <a:spcPts val="3430"/>
              </a:lnSpc>
              <a:spcBef>
                <a:spcPts val="0"/>
              </a:spcBef>
              <a:buFont typeface="Arial" panose="02080604020202020204" pitchFamily="34" charset="0"/>
              <a:buNone/>
              <a:defRPr sz="2400" kern="1200" baseline="0">
                <a:solidFill>
                  <a:schemeClr val="tx1"/>
                </a:solidFill>
                <a:latin typeface="Arial" panose="02080604020202020204" pitchFamily="34" charset="0"/>
                <a:ea typeface="微软雅黑" panose="020B0503020204020204" pitchFamily="34" charset="-122"/>
                <a:cs typeface="Arial" panose="02080604020202020204" pitchFamily="34" charset="0"/>
              </a:defRPr>
            </a:lvl1pPr>
            <a:lvl2pPr marL="59372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745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117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490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799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171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544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4916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2400" b="1" dirty="0">
                <a:solidFill>
                  <a:srgbClr val="C00000"/>
                </a:solidFill>
              </a:rPr>
              <a:t>XXX</a:t>
            </a:r>
            <a:r>
              <a:rPr lang="zh-CN" altLang="en-US" sz="2400" b="1" dirty="0">
                <a:solidFill>
                  <a:srgbClr val="C00000"/>
                </a:solidFill>
              </a:rPr>
              <a:t>开源软件介绍</a:t>
            </a:r>
            <a:endParaRPr lang="en-US" altLang="zh-CN" sz="2400" b="1" dirty="0">
              <a:solidFill>
                <a:srgbClr val="C0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29615" y="907415"/>
            <a:ext cx="10720070" cy="458470"/>
          </a:xfrm>
          <a:prstGeom prst="rect">
            <a:avLst/>
          </a:prstGeom>
        </p:spPr>
        <p:txBody>
          <a:bodyPr wrap="square" lIns="0" tIns="0" rIns="0" bIns="0" rtlCol="0" anchor="ctr" anchorCtr="0">
            <a:normAutofit/>
          </a:bodyPr>
          <a:lstStyle>
            <a:lvl1pPr marL="0" indent="0" algn="l" defTabSz="1187450" rtl="0" eaLnBrk="1" latinLnBrk="0" hangingPunct="1">
              <a:lnSpc>
                <a:spcPts val="3430"/>
              </a:lnSpc>
              <a:spcBef>
                <a:spcPts val="0"/>
              </a:spcBef>
              <a:buFont typeface="Arial" panose="02080604020202020204" pitchFamily="34" charset="0"/>
              <a:buNone/>
              <a:defRPr sz="2400" kern="1200" baseline="0">
                <a:solidFill>
                  <a:schemeClr val="tx1"/>
                </a:solidFill>
                <a:latin typeface="Arial" panose="02080604020202020204" pitchFamily="34" charset="0"/>
                <a:ea typeface="微软雅黑" panose="020B0503020204020204" pitchFamily="34" charset="-122"/>
                <a:cs typeface="Arial" panose="02080604020202020204" pitchFamily="34" charset="0"/>
              </a:defRPr>
            </a:lvl1pPr>
            <a:lvl2pPr marL="59372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745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117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490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799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171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544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4916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00000"/>
              </a:lnSpc>
              <a:buClrTx/>
              <a:buSzTx/>
              <a:defRPr/>
            </a:pPr>
            <a:r>
              <a:rPr lang="zh-CN" altLang="en-US" sz="1600" b="1" dirty="0">
                <a:solidFill>
                  <a:schemeClr val="tx1"/>
                </a:solidFill>
                <a:sym typeface="+mn-ea"/>
              </a:rPr>
              <a:t>简要介绍软件基础信息、社区状态、版本、</a:t>
            </a:r>
            <a:r>
              <a:rPr lang="en-US" altLang="zh-CN" sz="1600" b="1" dirty="0">
                <a:solidFill>
                  <a:schemeClr val="tx1"/>
                </a:solidFill>
                <a:sym typeface="+mn-ea"/>
              </a:rPr>
              <a:t>LICENSE</a:t>
            </a:r>
            <a:r>
              <a:rPr lang="zh-CN" altLang="en-US" sz="1600" b="1" dirty="0">
                <a:solidFill>
                  <a:schemeClr val="tx1"/>
                </a:solidFill>
                <a:sym typeface="+mn-ea"/>
              </a:rPr>
              <a:t>等信息</a:t>
            </a:r>
            <a:r>
              <a:rPr lang="zh-CN" altLang="en-US" sz="1600" b="1" dirty="0">
                <a:solidFill>
                  <a:schemeClr val="tx1"/>
                </a:solidFill>
                <a:sym typeface="+mn-ea"/>
              </a:rPr>
              <a:t>：</a:t>
            </a:r>
            <a:endParaRPr lang="zh-CN" altLang="en-US" sz="1600" b="1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29615" y="5793105"/>
            <a:ext cx="984885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  <a:buFont typeface="Arial"/>
              <a:buNone/>
            </a:pPr>
            <a:r>
              <a:rPr lang="zh-CN" altLang="en-US" sz="1000" b="1">
                <a:solidFill>
                  <a:srgbClr val="0F1115"/>
                </a:solidFill>
                <a:latin typeface="微软雅黑" charset="0"/>
                <a:ea typeface="微软雅黑" charset="0"/>
                <a:sym typeface="+mn-ea"/>
              </a:rPr>
              <a:t>说明</a:t>
            </a: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sym typeface="+mn-ea"/>
              </a:rPr>
              <a:t>：</a:t>
            </a: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sym typeface="+mn-ea"/>
              </a:rPr>
              <a:t>1</a:t>
            </a: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sym typeface="+mn-ea"/>
              </a:rPr>
              <a:t>）成长期</a:t>
            </a: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sym typeface="+mn-ea"/>
              </a:rPr>
              <a:t>-</a:t>
            </a: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sym typeface="+mn-ea"/>
              </a:rPr>
              <a:t>代码更新活跃、频繁发布；</a:t>
            </a: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sym typeface="+mn-ea"/>
              </a:rPr>
              <a:t>2</a:t>
            </a: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sym typeface="+mn-ea"/>
              </a:rPr>
              <a:t>）</a:t>
            </a:r>
            <a:r>
              <a:rPr lang="zh-CN" altLang="en-US" sz="1000" b="1">
                <a:solidFill>
                  <a:srgbClr val="0F1115"/>
                </a:solidFill>
                <a:latin typeface="微软雅黑" charset="0"/>
                <a:ea typeface="微软雅黑" charset="0"/>
                <a:sym typeface="+mn-ea"/>
              </a:rPr>
              <a:t>成熟期</a:t>
            </a: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sym typeface="+mn-ea"/>
              </a:rPr>
              <a:t>-</a:t>
            </a: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sym typeface="+mn-ea"/>
              </a:rPr>
              <a:t>代码更新活跃、定期发布；</a:t>
            </a: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sym typeface="+mn-ea"/>
              </a:rPr>
              <a:t>3</a:t>
            </a: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sym typeface="+mn-ea"/>
              </a:rPr>
              <a:t>）</a:t>
            </a:r>
            <a:r>
              <a:rPr lang="zh-CN" altLang="en-US" sz="1000" b="1">
                <a:solidFill>
                  <a:srgbClr val="0F1115"/>
                </a:solidFill>
                <a:latin typeface="微软雅黑" charset="0"/>
                <a:ea typeface="微软雅黑" charset="0"/>
                <a:sym typeface="+mn-ea"/>
              </a:rPr>
              <a:t>衰退期</a:t>
            </a: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sym typeface="+mn-ea"/>
              </a:rPr>
              <a:t>-</a:t>
            </a:r>
            <a:r>
              <a:rPr lang="zh-CN" altLang="en-US" sz="1000" dirty="0">
                <a:latin typeface="微软雅黑" charset="0"/>
                <a:ea typeface="微软雅黑" charset="0"/>
                <a:cs typeface="微软雅黑" charset="0"/>
                <a:sym typeface="+mn-ea"/>
              </a:rPr>
              <a:t>代码无更新、无新版本发布</a:t>
            </a:r>
            <a:endParaRPr lang="zh-CN" altLang="en-US" sz="1000" dirty="0">
              <a:latin typeface="微软雅黑" charset="0"/>
              <a:ea typeface="微软雅黑" charset="0"/>
              <a:cs typeface="微软雅黑" charset="0"/>
              <a:sym typeface="+mn-ea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729615" y="1416685"/>
          <a:ext cx="10720070" cy="4284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795"/>
                <a:gridCol w="2089150"/>
                <a:gridCol w="1345565"/>
                <a:gridCol w="1558290"/>
                <a:gridCol w="1249045"/>
                <a:gridCol w="1547495"/>
                <a:gridCol w="1114425"/>
                <a:gridCol w="916305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软件名称</a:t>
                      </a:r>
                      <a:endParaRPr lang="zh-CN" altLang="en-US" sz="1200" dirty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</a:rPr>
                        <a:t>软件介绍</a:t>
                      </a:r>
                      <a:endParaRPr lang="zh-CN" altLang="en-US" sz="1200" dirty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</a:rPr>
                        <a:t>上游社区地址</a:t>
                      </a:r>
                      <a:endParaRPr lang="zh-CN" altLang="en-US" sz="1200" dirty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</a:rPr>
                        <a:t>上游社区状态</a:t>
                      </a:r>
                      <a:endParaRPr lang="en-US" altLang="zh-CN" sz="1200" dirty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</a:endParaRPr>
                    </a:p>
                    <a:p>
                      <a:pPr algn="ctr"/>
                      <a:r>
                        <a:rPr lang="zh-CN" altLang="en-US" sz="800" dirty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</a:rPr>
                        <a:t>（</a:t>
                      </a:r>
                      <a:r>
                        <a:rPr lang="zh-CN" altLang="en-US" sz="800" b="1" dirty="0">
                          <a:solidFill>
                            <a:srgbClr val="0000FF"/>
                          </a:solidFill>
                          <a:latin typeface="微软雅黑" charset="0"/>
                          <a:ea typeface="微软雅黑" charset="0"/>
                        </a:rPr>
                        <a:t>成长</a:t>
                      </a:r>
                      <a:r>
                        <a:rPr lang="zh-CN" altLang="en-US" sz="800" dirty="0">
                          <a:solidFill>
                            <a:srgbClr val="0000FF"/>
                          </a:solidFill>
                          <a:latin typeface="微软雅黑" charset="0"/>
                          <a:ea typeface="微软雅黑" charset="0"/>
                        </a:rPr>
                        <a:t>期</a:t>
                      </a:r>
                      <a:r>
                        <a:rPr lang="en-US" altLang="zh-CN" sz="800" dirty="0">
                          <a:solidFill>
                            <a:srgbClr val="0000FF"/>
                          </a:solidFill>
                          <a:latin typeface="微软雅黑" charset="0"/>
                          <a:ea typeface="微软雅黑" charset="0"/>
                        </a:rPr>
                        <a:t>/</a:t>
                      </a:r>
                      <a:r>
                        <a:rPr lang="zh-CN" altLang="en-US" sz="800" dirty="0">
                          <a:solidFill>
                            <a:srgbClr val="0000FF"/>
                          </a:solidFill>
                          <a:latin typeface="微软雅黑" charset="0"/>
                          <a:ea typeface="微软雅黑" charset="0"/>
                        </a:rPr>
                        <a:t>成熟期</a:t>
                      </a:r>
                      <a:r>
                        <a:rPr lang="en-US" altLang="zh-CN" sz="800" dirty="0">
                          <a:solidFill>
                            <a:srgbClr val="0000FF"/>
                          </a:solidFill>
                          <a:latin typeface="微软雅黑" charset="0"/>
                          <a:ea typeface="微软雅黑" charset="0"/>
                        </a:rPr>
                        <a:t>/</a:t>
                      </a:r>
                      <a:r>
                        <a:rPr lang="zh-CN" altLang="en-US" sz="800" dirty="0">
                          <a:solidFill>
                            <a:srgbClr val="0000FF"/>
                          </a:solidFill>
                          <a:latin typeface="微软雅黑" charset="0"/>
                          <a:ea typeface="微软雅黑" charset="0"/>
                        </a:rPr>
                        <a:t>衰退期</a:t>
                      </a:r>
                      <a:r>
                        <a:rPr lang="zh-CN" altLang="en-US" sz="800" dirty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</a:rPr>
                        <a:t>）</a:t>
                      </a:r>
                      <a:endParaRPr lang="zh-CN" altLang="en-US" sz="800" dirty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</a:rPr>
                        <a:t>最新发布版本</a:t>
                      </a:r>
                      <a:endParaRPr lang="zh-CN" altLang="en-US" sz="1200" dirty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</a:rPr>
                        <a:t>引入版本</a:t>
                      </a:r>
                      <a:endParaRPr lang="zh-CN" altLang="en-US" sz="1200" dirty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</a:rPr>
                        <a:t>是否正式</a:t>
                      </a:r>
                      <a:endParaRPr lang="en-US" altLang="zh-CN" sz="1200" dirty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</a:endParaRPr>
                    </a:p>
                    <a:p>
                      <a:pPr algn="ctr"/>
                      <a:r>
                        <a:rPr lang="zh-CN" altLang="en-US" sz="1200" dirty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</a:rPr>
                        <a:t>发布版本</a:t>
                      </a:r>
                      <a:endParaRPr lang="zh-CN" altLang="en-US" sz="1200" dirty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</a:rPr>
                        <a:t>LICENSE</a:t>
                      </a:r>
                      <a:endParaRPr lang="en-US" altLang="zh-CN" sz="1200" dirty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644265">
                <a:tc>
                  <a:txBody>
                    <a:bodyPr/>
                    <a:lstStyle/>
                    <a:p>
                      <a:endParaRPr lang="zh-CN" altLang="en-US" dirty="0">
                        <a:latin typeface="微软雅黑" charset="0"/>
                        <a:ea typeface="微软雅黑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微软雅黑" charset="0"/>
                        <a:ea typeface="微软雅黑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微软雅黑" charset="0"/>
                        <a:ea typeface="微软雅黑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微软雅黑" charset="0"/>
                        <a:ea typeface="微软雅黑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微软雅黑" charset="0"/>
                        <a:ea typeface="微软雅黑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微软雅黑" charset="0"/>
                        <a:ea typeface="微软雅黑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微软雅黑" charset="0"/>
                        <a:ea typeface="微软雅黑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>
                        <a:latin typeface="微软雅黑" charset="0"/>
                        <a:ea typeface="微软雅黑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7202" y="6042990"/>
            <a:ext cx="1312676" cy="348426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620201" y="6130454"/>
            <a:ext cx="15472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  <a:cs typeface="Arial" panose="02080604020202020204" pitchFamily="34" charset="0"/>
              </a:rPr>
              <a:t>https://gitcode.com/cann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+mj-ea"/>
              <a:ea typeface="+mj-ea"/>
              <a:cs typeface="Arial" panose="02080604020202020204" pitchFamily="34" charset="0"/>
            </a:endParaRPr>
          </a:p>
        </p:txBody>
      </p:sp>
      <p:sp>
        <p:nvSpPr>
          <p:cNvPr id="16" name="副标题 1"/>
          <p:cNvSpPr txBox="1"/>
          <p:nvPr/>
        </p:nvSpPr>
        <p:spPr>
          <a:xfrm>
            <a:off x="729615" y="326390"/>
            <a:ext cx="10720705" cy="581025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 algn="l" defTabSz="1187450" rtl="0" eaLnBrk="1" latinLnBrk="0" hangingPunct="1">
              <a:lnSpc>
                <a:spcPts val="3430"/>
              </a:lnSpc>
              <a:spcBef>
                <a:spcPts val="0"/>
              </a:spcBef>
              <a:buFont typeface="Arial" panose="02080604020202020204" pitchFamily="34" charset="0"/>
              <a:buNone/>
              <a:defRPr sz="2400" kern="1200" baseline="0">
                <a:solidFill>
                  <a:schemeClr val="tx1"/>
                </a:solidFill>
                <a:latin typeface="Arial" panose="02080604020202020204" pitchFamily="34" charset="0"/>
                <a:ea typeface="微软雅黑" panose="020B0503020204020204" pitchFamily="34" charset="-122"/>
                <a:cs typeface="Arial" panose="02080604020202020204" pitchFamily="34" charset="0"/>
              </a:defRPr>
            </a:lvl1pPr>
            <a:lvl2pPr marL="59372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745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117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490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799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171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544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4916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sz="2400" b="1" dirty="0">
                <a:solidFill>
                  <a:srgbClr val="C00000"/>
                </a:solidFill>
              </a:rPr>
              <a:t>XXX</a:t>
            </a:r>
            <a:r>
              <a:rPr lang="zh-CN" altLang="en-US" sz="2400" b="1" dirty="0">
                <a:solidFill>
                  <a:srgbClr val="C00000"/>
                </a:solidFill>
              </a:rPr>
              <a:t>开源软件选型评估</a:t>
            </a:r>
            <a:endParaRPr lang="zh-CN" altLang="en-US" sz="2400" b="1" dirty="0">
              <a:solidFill>
                <a:srgbClr val="C0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29615" y="907415"/>
            <a:ext cx="10720070" cy="458470"/>
          </a:xfrm>
          <a:prstGeom prst="rect">
            <a:avLst/>
          </a:prstGeom>
        </p:spPr>
        <p:txBody>
          <a:bodyPr wrap="square" lIns="0" tIns="0" rIns="0" bIns="0" rtlCol="0" anchor="ctr" anchorCtr="0">
            <a:normAutofit/>
          </a:bodyPr>
          <a:lstStyle>
            <a:lvl1pPr marL="0" indent="0" algn="l" defTabSz="1187450" rtl="0" eaLnBrk="1" latinLnBrk="0" hangingPunct="1">
              <a:lnSpc>
                <a:spcPts val="3430"/>
              </a:lnSpc>
              <a:spcBef>
                <a:spcPts val="0"/>
              </a:spcBef>
              <a:buFont typeface="Arial" panose="02080604020202020204" pitchFamily="34" charset="0"/>
              <a:buNone/>
              <a:defRPr sz="2400" kern="1200" baseline="0">
                <a:solidFill>
                  <a:schemeClr val="tx1"/>
                </a:solidFill>
                <a:latin typeface="Arial" panose="02080604020202020204" pitchFamily="34" charset="0"/>
                <a:ea typeface="微软雅黑" panose="020B0503020204020204" pitchFamily="34" charset="-122"/>
                <a:cs typeface="Arial" panose="02080604020202020204" pitchFamily="34" charset="0"/>
              </a:defRPr>
            </a:lvl1pPr>
            <a:lvl2pPr marL="59372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745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117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490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799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171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544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4916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8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00000"/>
              </a:lnSpc>
              <a:buClrTx/>
              <a:buSzTx/>
              <a:defRPr/>
            </a:pPr>
            <a:r>
              <a:rPr lang="zh-CN" altLang="en-US" sz="1600" b="1" dirty="0">
                <a:solidFill>
                  <a:schemeClr val="tx1"/>
                </a:solidFill>
                <a:sym typeface="+mn-ea"/>
              </a:rPr>
              <a:t>根据开源软件选型评估指导，从</a:t>
            </a:r>
            <a:r>
              <a:rPr lang="zh-CN" altLang="en-US" sz="1600" b="1" dirty="0">
                <a:solidFill>
                  <a:schemeClr val="tx1"/>
                </a:solidFill>
                <a:sym typeface="+mn-ea"/>
              </a:rPr>
              <a:t>合法合规、技术生态、生命周期、网络安全等</a:t>
            </a:r>
            <a:r>
              <a:rPr lang="zh-CN" altLang="en-US" sz="1600" b="1" dirty="0">
                <a:solidFill>
                  <a:schemeClr val="tx1"/>
                </a:solidFill>
                <a:sym typeface="+mn-ea"/>
              </a:rPr>
              <a:t>维度开展评估：</a:t>
            </a:r>
            <a:endParaRPr lang="zh-CN" altLang="en-US" sz="1600" b="1" dirty="0">
              <a:solidFill>
                <a:schemeClr val="tx1"/>
              </a:solidFill>
              <a:sym typeface="+mn-ea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729615" y="1514475"/>
          <a:ext cx="10721340" cy="4210050"/>
        </p:xfrm>
        <a:graphic>
          <a:graphicData uri="http://schemas.openxmlformats.org/drawingml/2006/table">
            <a:tbl>
              <a:tblPr/>
              <a:tblGrid>
                <a:gridCol w="1163320"/>
                <a:gridCol w="2014855"/>
                <a:gridCol w="1837055"/>
                <a:gridCol w="5706110"/>
              </a:tblGrid>
              <a:tr h="323850">
                <a:tc>
                  <a:txBody>
                    <a:bodyPr/>
                    <a:p>
                      <a:pPr algn="ctr" fontAlgn="ctr"/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维度</a:t>
                      </a:r>
                      <a:endParaRPr lang="zh-CN" altLang="en-US" sz="1200" b="1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检查项</a:t>
                      </a:r>
                      <a:endParaRPr lang="zh-CN" altLang="en-US" sz="1200" b="1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自检结果</a:t>
                      </a:r>
                      <a:endParaRPr lang="zh-CN" altLang="en-US" sz="1200" b="1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检查结果说明</a:t>
                      </a:r>
                      <a:endParaRPr lang="zh-CN" altLang="en-US" sz="1200" b="1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23850">
                <a:tc rowSpan="3">
                  <a:txBody>
                    <a:bodyPr/>
                    <a:p>
                      <a:pPr algn="ctr" fontAlgn="ctr"/>
                      <a:r>
                        <a:rPr lang="zh-CN" altLang="en-US" sz="1100" b="1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合法合规</a:t>
                      </a:r>
                      <a:endParaRPr lang="zh-CN" altLang="en-US" sz="1100" b="1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许可证包含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满足</a:t>
                      </a:r>
                      <a:r>
                        <a:rPr lang="en-US" altLang="zh-CN" sz="1100" b="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/</a:t>
                      </a:r>
                      <a:r>
                        <a:rPr lang="zh-CN" altLang="en-US" sz="1100" b="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部分满足</a:t>
                      </a:r>
                      <a:r>
                        <a:rPr lang="en-US" altLang="zh-CN" sz="1100" b="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/</a:t>
                      </a:r>
                      <a:r>
                        <a:rPr lang="zh-CN" altLang="en-US" sz="1100" b="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不满足</a:t>
                      </a:r>
                      <a:endParaRPr lang="zh-CN" altLang="en-US" sz="1100" b="0" i="1">
                        <a:solidFill>
                          <a:schemeClr val="bg1">
                            <a:lumMod val="65000"/>
                          </a:schemeClr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说明清楚满足</a:t>
                      </a:r>
                      <a:r>
                        <a:rPr lang="en-US" altLang="zh-CN" sz="1100" b="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/</a:t>
                      </a:r>
                      <a:r>
                        <a:rPr lang="zh-CN" altLang="en-US" sz="1100" b="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部分满足</a:t>
                      </a:r>
                      <a:r>
                        <a:rPr lang="en-US" altLang="zh-CN" sz="1100" b="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/</a:t>
                      </a:r>
                      <a:r>
                        <a:rPr lang="zh-CN" altLang="en-US" sz="1100" b="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不满足的具体情况</a:t>
                      </a:r>
                      <a:endParaRPr lang="en-US" altLang="zh-CN" sz="1100" b="0" i="1">
                        <a:solidFill>
                          <a:schemeClr val="bg1">
                            <a:lumMod val="65000"/>
                          </a:schemeClr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385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许可证兼容性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满足</a:t>
                      </a:r>
                      <a:r>
                        <a:rPr lang="en-US" altLang="zh-CN" sz="1100" b="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/</a:t>
                      </a:r>
                      <a:r>
                        <a:rPr lang="zh-CN" altLang="en-US" sz="1100" b="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部分满足</a:t>
                      </a:r>
                      <a:r>
                        <a:rPr lang="en-US" altLang="zh-CN" sz="1100" b="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/</a:t>
                      </a:r>
                      <a:r>
                        <a:rPr lang="zh-CN" altLang="en-US" sz="1100" b="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不满足</a:t>
                      </a:r>
                      <a:endParaRPr lang="zh-CN" altLang="en-US" sz="1100" b="0" i="1">
                        <a:solidFill>
                          <a:schemeClr val="bg1">
                            <a:lumMod val="65000"/>
                          </a:schemeClr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说明清楚满足</a:t>
                      </a:r>
                      <a:r>
                        <a:rPr lang="en-US" altLang="zh-CN" sz="1100" b="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/</a:t>
                      </a:r>
                      <a:r>
                        <a:rPr lang="zh-CN" altLang="en-US" sz="1100" b="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部分满足</a:t>
                      </a:r>
                      <a:r>
                        <a:rPr lang="en-US" altLang="zh-CN" sz="1100" b="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/</a:t>
                      </a:r>
                      <a:r>
                        <a:rPr lang="zh-CN" altLang="en-US" sz="1100" b="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不满足的具体情况</a:t>
                      </a:r>
                      <a:endParaRPr lang="zh-CN" altLang="en-US" sz="1100" b="0" i="1">
                        <a:solidFill>
                          <a:schemeClr val="bg1">
                            <a:lumMod val="65000"/>
                          </a:schemeClr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385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专利风险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满足</a:t>
                      </a:r>
                      <a:r>
                        <a:rPr lang="en-US" altLang="zh-CN" sz="1100" b="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/</a:t>
                      </a:r>
                      <a:r>
                        <a:rPr lang="zh-CN" altLang="en-US" sz="1100" b="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部分满足</a:t>
                      </a:r>
                      <a:r>
                        <a:rPr lang="en-US" altLang="zh-CN" sz="1100" b="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/</a:t>
                      </a:r>
                      <a:r>
                        <a:rPr lang="zh-CN" altLang="en-US" sz="1100" b="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不满足</a:t>
                      </a:r>
                      <a:endParaRPr lang="zh-CN" altLang="en-US" sz="1100" b="0" i="1">
                        <a:solidFill>
                          <a:schemeClr val="bg1">
                            <a:lumMod val="65000"/>
                          </a:schemeClr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说明清楚满足</a:t>
                      </a:r>
                      <a:r>
                        <a:rPr lang="en-US" altLang="zh-CN" sz="1100" b="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/</a:t>
                      </a:r>
                      <a:r>
                        <a:rPr lang="zh-CN" altLang="en-US" sz="1100" b="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部分满足</a:t>
                      </a:r>
                      <a:r>
                        <a:rPr lang="en-US" altLang="zh-CN" sz="1100" b="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/</a:t>
                      </a:r>
                      <a:r>
                        <a:rPr lang="zh-CN" altLang="en-US" sz="1100" b="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不满足的具体情况</a:t>
                      </a:r>
                      <a:endParaRPr lang="zh-CN" altLang="en-US" sz="1100" b="0" i="1">
                        <a:solidFill>
                          <a:schemeClr val="bg1">
                            <a:lumMod val="65000"/>
                          </a:schemeClr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3850">
                <a:tc rowSpan="5">
                  <a:txBody>
                    <a:bodyPr/>
                    <a:p>
                      <a:pPr algn="ctr" fontAlgn="ctr"/>
                      <a:r>
                        <a:rPr lang="zh-CN" altLang="en-US" sz="1100" b="1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技术生态</a:t>
                      </a:r>
                      <a:endParaRPr lang="zh-CN" altLang="en-US" sz="1100" b="1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技术生态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满足</a:t>
                      </a:r>
                      <a:r>
                        <a:rPr lang="en-US" altLang="zh-CN" sz="1100" b="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/</a:t>
                      </a:r>
                      <a:r>
                        <a:rPr lang="zh-CN" altLang="en-US" sz="1100" b="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部分满足</a:t>
                      </a:r>
                      <a:r>
                        <a:rPr lang="en-US" altLang="zh-CN" sz="1100" b="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/</a:t>
                      </a:r>
                      <a:r>
                        <a:rPr lang="zh-CN" altLang="en-US" sz="1100" b="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不满足</a:t>
                      </a:r>
                      <a:endParaRPr lang="zh-CN" altLang="en-US" sz="1100" b="0" i="1">
                        <a:solidFill>
                          <a:schemeClr val="bg1">
                            <a:lumMod val="65000"/>
                          </a:schemeClr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说明清楚满足</a:t>
                      </a:r>
                      <a:r>
                        <a:rPr lang="en-US" altLang="zh-CN" sz="1100" b="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/</a:t>
                      </a:r>
                      <a:r>
                        <a:rPr lang="zh-CN" altLang="en-US" sz="1100" b="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部分满足</a:t>
                      </a:r>
                      <a:r>
                        <a:rPr lang="en-US" altLang="zh-CN" sz="1100" b="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/</a:t>
                      </a:r>
                      <a:r>
                        <a:rPr lang="zh-CN" altLang="en-US" sz="1100" b="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不满足的具体情况</a:t>
                      </a:r>
                      <a:endParaRPr lang="zh-CN" altLang="en-US" sz="1100" b="0" i="1">
                        <a:solidFill>
                          <a:schemeClr val="bg1">
                            <a:lumMod val="65000"/>
                          </a:schemeClr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385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代码维护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满足</a:t>
                      </a:r>
                      <a:r>
                        <a:rPr lang="en-US" altLang="zh-CN" sz="1100" b="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/</a:t>
                      </a:r>
                      <a:r>
                        <a:rPr lang="zh-CN" altLang="en-US" sz="1100" b="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部分满足</a:t>
                      </a:r>
                      <a:r>
                        <a:rPr lang="en-US" altLang="zh-CN" sz="1100" b="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/</a:t>
                      </a:r>
                      <a:r>
                        <a:rPr lang="zh-CN" altLang="en-US" sz="1100" b="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不满足</a:t>
                      </a:r>
                      <a:endParaRPr lang="zh-CN" altLang="en-US" sz="1100" b="0" i="1">
                        <a:solidFill>
                          <a:schemeClr val="bg1">
                            <a:lumMod val="65000"/>
                          </a:schemeClr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说明清楚满足</a:t>
                      </a:r>
                      <a:r>
                        <a:rPr lang="en-US" altLang="zh-CN" sz="1100" b="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/</a:t>
                      </a:r>
                      <a:r>
                        <a:rPr lang="zh-CN" altLang="en-US" sz="1100" b="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部分满足</a:t>
                      </a:r>
                      <a:r>
                        <a:rPr lang="en-US" altLang="zh-CN" sz="1100" b="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/</a:t>
                      </a:r>
                      <a:r>
                        <a:rPr lang="zh-CN" altLang="en-US" sz="1100" b="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不满足的具体情况</a:t>
                      </a:r>
                      <a:endParaRPr lang="zh-CN" altLang="en-US" sz="1100" b="0" i="1">
                        <a:solidFill>
                          <a:schemeClr val="bg1">
                            <a:lumMod val="65000"/>
                          </a:schemeClr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385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社区支撑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满足</a:t>
                      </a:r>
                      <a:r>
                        <a:rPr lang="en-US" altLang="zh-CN" sz="1100" b="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/</a:t>
                      </a:r>
                      <a:r>
                        <a:rPr lang="zh-CN" altLang="en-US" sz="1100" b="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部分满足</a:t>
                      </a:r>
                      <a:r>
                        <a:rPr lang="en-US" altLang="zh-CN" sz="1100" b="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/</a:t>
                      </a:r>
                      <a:r>
                        <a:rPr lang="zh-CN" altLang="en-US" sz="1100" b="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不满足</a:t>
                      </a:r>
                      <a:endParaRPr lang="zh-CN" altLang="en-US" sz="1100" b="0" i="1">
                        <a:solidFill>
                          <a:schemeClr val="bg1">
                            <a:lumMod val="65000"/>
                          </a:schemeClr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说明清楚满足</a:t>
                      </a:r>
                      <a:r>
                        <a:rPr lang="en-US" altLang="zh-CN" sz="1100" b="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/</a:t>
                      </a:r>
                      <a:r>
                        <a:rPr lang="zh-CN" altLang="en-US" sz="1100" b="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部分满足</a:t>
                      </a:r>
                      <a:r>
                        <a:rPr lang="en-US" altLang="zh-CN" sz="1100" b="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/</a:t>
                      </a:r>
                      <a:r>
                        <a:rPr lang="zh-CN" altLang="en-US" sz="1100" b="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不满足的具体情况</a:t>
                      </a:r>
                      <a:endParaRPr lang="zh-CN" altLang="en-US" sz="1100" b="0" i="1">
                        <a:solidFill>
                          <a:schemeClr val="bg1">
                            <a:lumMod val="65000"/>
                          </a:schemeClr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385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采用度分析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满足</a:t>
                      </a:r>
                      <a:r>
                        <a:rPr lang="en-US" altLang="zh-CN" sz="1100" b="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/</a:t>
                      </a:r>
                      <a:r>
                        <a:rPr lang="zh-CN" altLang="en-US" sz="1100" b="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部分满足</a:t>
                      </a:r>
                      <a:r>
                        <a:rPr lang="en-US" altLang="zh-CN" sz="1100" b="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/</a:t>
                      </a:r>
                      <a:r>
                        <a:rPr lang="zh-CN" altLang="en-US" sz="1100" b="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不满足</a:t>
                      </a:r>
                      <a:endParaRPr lang="zh-CN" altLang="en-US" sz="1100" b="0" i="1">
                        <a:solidFill>
                          <a:schemeClr val="bg1">
                            <a:lumMod val="65000"/>
                          </a:schemeClr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说明清楚满足</a:t>
                      </a:r>
                      <a:r>
                        <a:rPr lang="en-US" altLang="zh-CN" sz="1100" b="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/</a:t>
                      </a:r>
                      <a:r>
                        <a:rPr lang="zh-CN" altLang="en-US" sz="1100" b="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部分满足</a:t>
                      </a:r>
                      <a:r>
                        <a:rPr lang="en-US" altLang="zh-CN" sz="1100" b="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/</a:t>
                      </a:r>
                      <a:r>
                        <a:rPr lang="zh-CN" altLang="en-US" sz="1100" b="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不满足的具体情况</a:t>
                      </a:r>
                      <a:endParaRPr lang="zh-CN" altLang="en-US" sz="1100" b="0" i="1">
                        <a:solidFill>
                          <a:schemeClr val="bg1">
                            <a:lumMod val="65000"/>
                          </a:schemeClr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385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软件质量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满足</a:t>
                      </a:r>
                      <a:r>
                        <a:rPr lang="en-US" altLang="zh-CN" sz="1100" b="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/</a:t>
                      </a:r>
                      <a:r>
                        <a:rPr lang="zh-CN" altLang="en-US" sz="1100" b="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部分满足</a:t>
                      </a:r>
                      <a:r>
                        <a:rPr lang="en-US" altLang="zh-CN" sz="1100" b="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/</a:t>
                      </a:r>
                      <a:r>
                        <a:rPr lang="zh-CN" altLang="en-US" sz="1100" b="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不满足</a:t>
                      </a:r>
                      <a:endParaRPr lang="zh-CN" altLang="en-US" sz="1100" b="0" i="1">
                        <a:solidFill>
                          <a:schemeClr val="bg1">
                            <a:lumMod val="65000"/>
                          </a:schemeClr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说明清楚满足</a:t>
                      </a:r>
                      <a:r>
                        <a:rPr lang="en-US" altLang="zh-CN" sz="1100" b="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/</a:t>
                      </a:r>
                      <a:r>
                        <a:rPr lang="zh-CN" altLang="en-US" sz="1100" b="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部分满足</a:t>
                      </a:r>
                      <a:r>
                        <a:rPr lang="en-US" altLang="zh-CN" sz="1100" b="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/</a:t>
                      </a:r>
                      <a:r>
                        <a:rPr lang="zh-CN" altLang="en-US" sz="1100" b="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不满足的具体情况</a:t>
                      </a:r>
                      <a:endParaRPr lang="zh-CN" altLang="en-US" sz="1100" b="0" i="1">
                        <a:solidFill>
                          <a:schemeClr val="bg1">
                            <a:lumMod val="65000"/>
                          </a:schemeClr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3850">
                <a:tc>
                  <a:txBody>
                    <a:bodyPr/>
                    <a:p>
                      <a:pPr algn="ctr" fontAlgn="ctr"/>
                      <a:r>
                        <a:rPr lang="zh-CN" altLang="en-US" sz="1100" b="1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生命周期</a:t>
                      </a:r>
                      <a:endParaRPr lang="zh-CN" altLang="en-US" sz="1100" b="1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版本生命周期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满足</a:t>
                      </a:r>
                      <a:r>
                        <a:rPr lang="en-US" altLang="zh-CN" sz="1100" b="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/</a:t>
                      </a:r>
                      <a:r>
                        <a:rPr lang="zh-CN" altLang="en-US" sz="1100" b="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部分满足</a:t>
                      </a:r>
                      <a:r>
                        <a:rPr lang="en-US" altLang="zh-CN" sz="1100" b="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/</a:t>
                      </a:r>
                      <a:r>
                        <a:rPr lang="zh-CN" altLang="en-US" sz="1100" b="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不满足</a:t>
                      </a:r>
                      <a:endParaRPr lang="zh-CN" altLang="en-US" sz="1100" b="0" i="1">
                        <a:solidFill>
                          <a:schemeClr val="bg1">
                            <a:lumMod val="65000"/>
                          </a:schemeClr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说明清楚满足</a:t>
                      </a:r>
                      <a:r>
                        <a:rPr lang="en-US" altLang="zh-CN" sz="1100" b="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/</a:t>
                      </a:r>
                      <a:r>
                        <a:rPr lang="zh-CN" altLang="en-US" sz="1100" b="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部分满足</a:t>
                      </a:r>
                      <a:r>
                        <a:rPr lang="en-US" altLang="zh-CN" sz="1100" b="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/</a:t>
                      </a:r>
                      <a:r>
                        <a:rPr lang="zh-CN" altLang="en-US" sz="1100" b="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不满足的具体情况</a:t>
                      </a:r>
                      <a:endParaRPr lang="zh-CN" altLang="en-US" sz="1100" b="0" i="1">
                        <a:solidFill>
                          <a:schemeClr val="bg1">
                            <a:lumMod val="65000"/>
                          </a:schemeClr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3850">
                <a:tc rowSpan="3">
                  <a:txBody>
                    <a:bodyPr/>
                    <a:p>
                      <a:pPr algn="ctr" fontAlgn="ctr"/>
                      <a:r>
                        <a:rPr lang="zh-CN" altLang="en-US" sz="1100" b="1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网络安全</a:t>
                      </a:r>
                      <a:endParaRPr lang="zh-CN" altLang="en-US" sz="1100" b="1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二进制制品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满足</a:t>
                      </a:r>
                      <a:r>
                        <a:rPr lang="en-US" altLang="zh-CN" sz="1100" b="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/</a:t>
                      </a:r>
                      <a:r>
                        <a:rPr lang="zh-CN" altLang="en-US" sz="1100" b="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部分满足</a:t>
                      </a:r>
                      <a:r>
                        <a:rPr lang="en-US" altLang="zh-CN" sz="1100" b="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/</a:t>
                      </a:r>
                      <a:r>
                        <a:rPr lang="zh-CN" altLang="en-US" sz="1100" b="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不满足</a:t>
                      </a:r>
                      <a:endParaRPr lang="zh-CN" altLang="en-US" sz="1100" b="0" i="1">
                        <a:solidFill>
                          <a:schemeClr val="bg1">
                            <a:lumMod val="65000"/>
                          </a:schemeClr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说明清楚满足</a:t>
                      </a:r>
                      <a:r>
                        <a:rPr lang="en-US" altLang="zh-CN" sz="1100" b="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/</a:t>
                      </a:r>
                      <a:r>
                        <a:rPr lang="zh-CN" altLang="en-US" sz="1100" b="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部分满足</a:t>
                      </a:r>
                      <a:r>
                        <a:rPr lang="en-US" altLang="zh-CN" sz="1100" b="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/</a:t>
                      </a:r>
                      <a:r>
                        <a:rPr lang="zh-CN" altLang="en-US" sz="1100" b="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不满足的具体情况</a:t>
                      </a:r>
                      <a:endParaRPr lang="zh-CN" altLang="en-US" sz="1100" b="0" i="1">
                        <a:solidFill>
                          <a:schemeClr val="bg1">
                            <a:lumMod val="65000"/>
                          </a:schemeClr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385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安全漏洞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满足</a:t>
                      </a:r>
                      <a:r>
                        <a:rPr lang="en-US" altLang="zh-CN" sz="1100" b="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/</a:t>
                      </a:r>
                      <a:r>
                        <a:rPr lang="zh-CN" altLang="en-US" sz="1100" b="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部分满足</a:t>
                      </a:r>
                      <a:r>
                        <a:rPr lang="en-US" altLang="zh-CN" sz="1100" b="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/</a:t>
                      </a:r>
                      <a:r>
                        <a:rPr lang="zh-CN" altLang="en-US" sz="1100" b="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不满足</a:t>
                      </a:r>
                      <a:endParaRPr lang="zh-CN" altLang="en-US" sz="1100" b="0" i="1">
                        <a:solidFill>
                          <a:schemeClr val="bg1">
                            <a:lumMod val="65000"/>
                          </a:schemeClr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说明清楚满足</a:t>
                      </a:r>
                      <a:r>
                        <a:rPr lang="en-US" altLang="zh-CN" sz="1100" b="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/</a:t>
                      </a:r>
                      <a:r>
                        <a:rPr lang="zh-CN" altLang="en-US" sz="1100" b="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部分满足</a:t>
                      </a:r>
                      <a:r>
                        <a:rPr lang="en-US" altLang="zh-CN" sz="1100" b="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/</a:t>
                      </a:r>
                      <a:r>
                        <a:rPr lang="zh-CN" altLang="en-US" sz="1100" b="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不满足的具体情况</a:t>
                      </a:r>
                      <a:endParaRPr lang="zh-CN" altLang="en-US" sz="1100" b="0" i="1">
                        <a:solidFill>
                          <a:schemeClr val="bg1">
                            <a:lumMod val="65000"/>
                          </a:schemeClr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385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漏洞响应机制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满足</a:t>
                      </a:r>
                      <a:r>
                        <a:rPr lang="en-US" altLang="zh-CN" sz="1100" b="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/</a:t>
                      </a:r>
                      <a:r>
                        <a:rPr lang="zh-CN" altLang="en-US" sz="1100" b="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部分满足</a:t>
                      </a:r>
                      <a:r>
                        <a:rPr lang="en-US" altLang="zh-CN" sz="1100" b="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/</a:t>
                      </a:r>
                      <a:r>
                        <a:rPr lang="zh-CN" altLang="en-US" sz="1100" b="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不满足</a:t>
                      </a:r>
                      <a:endParaRPr lang="zh-CN" altLang="en-US" sz="1100" b="0" i="1">
                        <a:solidFill>
                          <a:schemeClr val="bg1">
                            <a:lumMod val="65000"/>
                          </a:schemeClr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说明清楚满足</a:t>
                      </a:r>
                      <a:r>
                        <a:rPr lang="en-US" altLang="zh-CN" sz="1100" b="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/</a:t>
                      </a:r>
                      <a:r>
                        <a:rPr lang="zh-CN" altLang="en-US" sz="1100" b="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部分满足</a:t>
                      </a:r>
                      <a:r>
                        <a:rPr lang="en-US" altLang="zh-CN" sz="1100" b="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/</a:t>
                      </a:r>
                      <a:r>
                        <a:rPr lang="zh-CN" altLang="en-US" sz="1100" b="0" i="1">
                          <a:solidFill>
                            <a:schemeClr val="bg1">
                              <a:lumMod val="65000"/>
                            </a:schemeClr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不满足的具体情况</a:t>
                      </a:r>
                      <a:endParaRPr lang="zh-CN" altLang="en-US" sz="1100" b="0" i="1">
                        <a:solidFill>
                          <a:schemeClr val="bg1">
                            <a:lumMod val="65000"/>
                          </a:schemeClr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729615" y="5793105"/>
            <a:ext cx="984885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000" b="1" dirty="0">
                <a:latin typeface="微软雅黑" charset="0"/>
                <a:ea typeface="微软雅黑" charset="0"/>
                <a:cs typeface="微软雅黑" charset="0"/>
                <a:sym typeface="+mn-ea"/>
              </a:rPr>
              <a:t>说明：</a:t>
            </a:r>
            <a:r>
              <a:rPr lang="zh-CN" altLang="en-US" sz="1000" dirty="0">
                <a:latin typeface="微软雅黑" charset="0"/>
                <a:ea typeface="微软雅黑" charset="0"/>
                <a:cs typeface="微软雅黑" charset="0"/>
                <a:sym typeface="+mn-ea"/>
              </a:rPr>
              <a:t>开源软件选型评估指导详见</a:t>
            </a:r>
            <a:r>
              <a:rPr lang="en-US" altLang="zh-CN" sz="1000" dirty="0">
                <a:latin typeface="微软雅黑" charset="0"/>
                <a:ea typeface="微软雅黑" charset="0"/>
                <a:cs typeface="微软雅黑" charset="0"/>
                <a:sym typeface="+mn-ea"/>
              </a:rPr>
              <a:t>www.gitcode.com/cann/community/tree/mater/contributor/third_party</a:t>
            </a:r>
            <a:endParaRPr lang="zh-CN" altLang="en-US" sz="1000" dirty="0">
              <a:latin typeface="微软雅黑" charset="0"/>
              <a:ea typeface="微软雅黑" charset="0"/>
              <a:cs typeface="微软雅黑" charset="0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74644" y="1208599"/>
            <a:ext cx="360868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5400" dirty="0">
                <a:latin typeface="Arial" panose="02080604020202020204" pitchFamily="34" charset="0"/>
                <a:cs typeface="Arial" panose="02080604020202020204" pitchFamily="34" charset="0"/>
              </a:rPr>
              <a:t>Thank you.</a:t>
            </a:r>
            <a:endParaRPr lang="zh-CN" altLang="en-US" sz="5400" dirty="0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400801" y="1393264"/>
            <a:ext cx="4699220" cy="2325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宋体" pitchFamily="2" charset="-122"/>
                <a:ea typeface="宋体" pitchFamily="2" charset="-122"/>
                <a:cs typeface="Arial" panose="02080604020202020204" pitchFamily="34" charset="0"/>
              </a:rPr>
              <a:t>社区愿景：打造开放易用、技术领先的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宋体" pitchFamily="2" charset="-122"/>
                <a:ea typeface="宋体" pitchFamily="2" charset="-122"/>
                <a:cs typeface="Arial" panose="02080604020202020204" pitchFamily="34" charset="0"/>
              </a:rPr>
              <a:t>AI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宋体" pitchFamily="2" charset="-122"/>
                <a:ea typeface="宋体" pitchFamily="2" charset="-122"/>
                <a:cs typeface="Arial" panose="02080604020202020204" pitchFamily="34" charset="0"/>
              </a:rPr>
              <a:t>算力新生态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宋体" pitchFamily="2" charset="-122"/>
              <a:ea typeface="宋体" pitchFamily="2" charset="-122"/>
              <a:cs typeface="Arial" panose="0208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宋体" pitchFamily="2" charset="-122"/>
                <a:ea typeface="宋体" pitchFamily="2" charset="-122"/>
                <a:cs typeface="Arial" panose="02080604020202020204" pitchFamily="34" charset="0"/>
              </a:rPr>
              <a:t>社区使命：使能开发者基于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宋体" pitchFamily="2" charset="-122"/>
                <a:ea typeface="宋体" pitchFamily="2" charset="-122"/>
                <a:cs typeface="Arial" panose="02080604020202020204" pitchFamily="34" charset="0"/>
              </a:rPr>
              <a:t>CANN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宋体" pitchFamily="2" charset="-122"/>
                <a:ea typeface="宋体" pitchFamily="2" charset="-122"/>
                <a:cs typeface="Arial" panose="02080604020202020204" pitchFamily="34" charset="0"/>
              </a:rPr>
              <a:t>社区自主研究创新，构筑根深叶茂、跨产业协同共享共赢的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宋体" pitchFamily="2" charset="-122"/>
                <a:ea typeface="宋体" pitchFamily="2" charset="-122"/>
                <a:cs typeface="Arial" panose="02080604020202020204" pitchFamily="34" charset="0"/>
              </a:rPr>
              <a:t>CANN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宋体" pitchFamily="2" charset="-122"/>
                <a:ea typeface="宋体" pitchFamily="2" charset="-122"/>
                <a:cs typeface="Arial" panose="02080604020202020204" pitchFamily="34" charset="0"/>
              </a:rPr>
              <a:t>生态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宋体" pitchFamily="2" charset="-122"/>
              <a:ea typeface="宋体" pitchFamily="2" charset="-122"/>
              <a:cs typeface="Arial" panose="0208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80604020202020204" pitchFamily="34" charset="0"/>
                <a:cs typeface="Arial" panose="02080604020202020204" pitchFamily="34" charset="0"/>
              </a:rPr>
              <a:t>Vision: Building an Open, Easy-to-Use, and Technology-leading AI Computing Ecosystem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Arial" panose="02080604020202020204" pitchFamily="34" charset="0"/>
              <a:cs typeface="Arial" panose="0208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Arial" panose="02080604020202020204" pitchFamily="34" charset="0"/>
                <a:cs typeface="Arial" panose="02080604020202020204" pitchFamily="34" charset="0"/>
              </a:rPr>
              <a:t>Mission: Enable developers to independently research and innovate based on the CANN community and build a win-win CANN ecosystem with deep roots and cross-industry collaboration and sharing.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5587" y="3938025"/>
            <a:ext cx="1600438" cy="160043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7202" y="6042990"/>
            <a:ext cx="1312676" cy="348426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7056392" y="5538463"/>
            <a:ext cx="14302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/>
              <a:t>上</a:t>
            </a:r>
            <a:r>
              <a:rPr lang="en-US" altLang="zh-CN" sz="1000" dirty="0"/>
              <a:t>CANN</a:t>
            </a:r>
            <a:r>
              <a:rPr lang="zh-CN" altLang="en-US" sz="1000" dirty="0"/>
              <a:t>社区获取干货</a:t>
            </a:r>
            <a:endParaRPr lang="zh-CN" altLang="en-US" sz="1000" dirty="0"/>
          </a:p>
        </p:txBody>
      </p:sp>
      <p:sp>
        <p:nvSpPr>
          <p:cNvPr id="11" name="文本框 10"/>
          <p:cNvSpPr txBox="1"/>
          <p:nvPr/>
        </p:nvSpPr>
        <p:spPr>
          <a:xfrm>
            <a:off x="8741387" y="5538463"/>
            <a:ext cx="16866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dirty="0"/>
              <a:t>关注</a:t>
            </a:r>
            <a:r>
              <a:rPr lang="en-US" altLang="zh-CN" sz="1000" dirty="0"/>
              <a:t>CANN</a:t>
            </a:r>
            <a:r>
              <a:rPr lang="zh-CN" altLang="en-US" sz="1000" dirty="0"/>
              <a:t>公众号获取资讯</a:t>
            </a:r>
            <a:endParaRPr lang="zh-CN" altLang="en-US" sz="1000" dirty="0"/>
          </a:p>
        </p:txBody>
      </p:sp>
      <p:sp>
        <p:nvSpPr>
          <p:cNvPr id="14" name="文本框 13"/>
          <p:cNvSpPr txBox="1"/>
          <p:nvPr/>
        </p:nvSpPr>
        <p:spPr>
          <a:xfrm>
            <a:off x="620201" y="6130454"/>
            <a:ext cx="15472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  <a:cs typeface="Arial" panose="02080604020202020204" pitchFamily="34" charset="0"/>
              </a:rPr>
              <a:t>https://gitcode.com/cann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+mj-ea"/>
              <a:ea typeface="+mj-ea"/>
              <a:cs typeface="Arial" panose="02080604020202020204" pitchFamily="3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6584" y="3898269"/>
            <a:ext cx="1686679" cy="168667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1335</Words>
  <Application>WPS 演示</Application>
  <PresentationFormat>宽屏</PresentationFormat>
  <Paragraphs>167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22" baseType="lpstr">
      <vt:lpstr>Arial</vt:lpstr>
      <vt:lpstr>宋体</vt:lpstr>
      <vt:lpstr>Wingdings</vt:lpstr>
      <vt:lpstr>Nimbus Roman No9 L</vt:lpstr>
      <vt:lpstr>微软雅黑</vt:lpstr>
      <vt:lpstr>Droid Sans Fallback</vt:lpstr>
      <vt:lpstr>微软雅黑</vt:lpstr>
      <vt:lpstr>微软雅黑</vt:lpstr>
      <vt:lpstr>Arial</vt:lpstr>
      <vt:lpstr>等线 Light</vt:lpstr>
      <vt:lpstr>Gubbi</vt:lpstr>
      <vt:lpstr>宋体</vt:lpstr>
      <vt:lpstr>Arial Unicode MS</vt:lpstr>
      <vt:lpstr>Noto Serif CJK SC</vt:lpstr>
      <vt:lpstr>等线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jackson</cp:lastModifiedBy>
  <cp:revision>34</cp:revision>
  <dcterms:created xsi:type="dcterms:W3CDTF">2025-11-19T09:04:24Z</dcterms:created>
  <dcterms:modified xsi:type="dcterms:W3CDTF">2025-11-19T09:04:24Z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26683E3FAEC074B9EE6D1C691B55E3A0_43</vt:lpwstr>
  </property>
  <property fmtid="{D5CDD505-2E9C-101B-9397-08002B2CF9AE}" pid="3" name="KSOProductBuildVer">
    <vt:lpwstr>2052-12.1.2.23574</vt:lpwstr>
  </property>
</Properties>
</file>