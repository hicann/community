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5" r:id="rId7"/>
    <p:sldId id="262" r:id="rId8"/>
    <p:sldId id="263" r:id="rId9"/>
    <p:sldId id="260" r:id="rId10"/>
    <p:sldId id="264" r:id="rId11"/>
    <p:sldId id="266" r:id="rId12"/>
    <p:sldId id="25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0" name="zhunaipan 00584191_uQbeZF3a" initials="authorId_AK20210901JXNSXO549653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9947" y="1399429"/>
            <a:ext cx="57358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申请模板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792" y="2313830"/>
            <a:ext cx="5918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目录</a:t>
            </a:r>
            <a:endParaRPr kumimoji="0" lang="zh-CN" altLang="en-US" sz="4800" b="0" i="0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157696" y="1818829"/>
            <a:ext cx="4483260" cy="2351755"/>
            <a:chOff x="7422109" y="3690364"/>
            <a:chExt cx="972161" cy="1176369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1 SIG</a:t>
              </a:r>
              <a:r>
                <a:rPr lang="zh-CN" altLang="en-US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组介绍</a:t>
              </a:r>
              <a:endPara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122696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Part 2 SIG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组结构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572854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3 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竞争力描述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组介绍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组介绍（做什么）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组定位（在</a:t>
            </a:r>
            <a:r>
              <a:rPr lang="en-US" altLang="zh-CN" dirty="0"/>
              <a:t>CANN</a:t>
            </a:r>
            <a:r>
              <a:rPr lang="zh-CN" altLang="en-US" dirty="0"/>
              <a:t>社区</a:t>
            </a:r>
            <a:r>
              <a:rPr lang="en-US" altLang="zh-CN" dirty="0"/>
              <a:t>/</a:t>
            </a:r>
            <a:r>
              <a:rPr lang="zh-CN" altLang="en-US" dirty="0"/>
              <a:t>架构中，要解决的问题，发挥的作用）</a:t>
            </a:r>
            <a:endParaRPr lang="zh-CN" altLang="en-US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组目标，面向哪些用户</a:t>
            </a:r>
            <a:r>
              <a:rPr lang="en-US" altLang="zh-CN" dirty="0"/>
              <a:t>/</a:t>
            </a:r>
            <a:r>
              <a:rPr lang="zh-CN" altLang="en-US" dirty="0"/>
              <a:t>开发者，解决什么问题和诉求，构建哪些竞争力，将带来哪些价值和收益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897890" y="35166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备注：新建</a:t>
            </a:r>
            <a:r>
              <a:rPr lang="en-US" altLang="zh-CN" sz="1400"/>
              <a:t>sig</a:t>
            </a:r>
            <a:r>
              <a:rPr lang="zh-CN" altLang="en-US" sz="1400"/>
              <a:t>命名规范请参考</a:t>
            </a:r>
            <a:r>
              <a:rPr lang="en-US" altLang="zh-CN" sz="1400"/>
              <a:t>P10</a:t>
            </a:r>
            <a:r>
              <a:rPr lang="zh-CN" altLang="en-US" sz="1400"/>
              <a:t>附录</a:t>
            </a:r>
            <a:endParaRPr lang="zh-CN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结构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901" y="1191986"/>
            <a:ext cx="11849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组的结构（主要</a:t>
            </a:r>
            <a:r>
              <a:rPr lang="en-US" altLang="zh-CN" dirty="0"/>
              <a:t>maintainer</a:t>
            </a:r>
            <a:r>
              <a:rPr lang="zh-CN" altLang="en-US" dirty="0"/>
              <a:t>、</a:t>
            </a:r>
            <a:r>
              <a:rPr lang="en-US" altLang="zh-CN" dirty="0"/>
              <a:t>committer</a:t>
            </a:r>
            <a:r>
              <a:rPr lang="zh-CN" altLang="en-US" dirty="0"/>
              <a:t>人员，人员简介，涉及哪些代码仓，人员分工等）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84956" y="2045044"/>
          <a:ext cx="11051540" cy="121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935"/>
                <a:gridCol w="1541780"/>
                <a:gridCol w="2589530"/>
                <a:gridCol w="5281295"/>
              </a:tblGrid>
              <a:tr h="4565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姓名</a:t>
                      </a:r>
                      <a:endParaRPr lang="zh-CN" altLang="en-US" sz="12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gitcodeID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sig</a:t>
                      </a:r>
                      <a:r>
                        <a:rPr lang="zh-CN" altLang="en-US" sz="1200"/>
                        <a:t>角色</a:t>
                      </a:r>
                      <a:r>
                        <a:rPr lang="en-US" altLang="zh-CN" sz="1200"/>
                        <a:t>(maintainer/committer)</a:t>
                      </a:r>
                      <a:endParaRPr lang="zh-CN" altLang="en-US" sz="12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介绍（社区贡献，工作经历，外部社区贡献经历等）</a:t>
                      </a:r>
                      <a:endParaRPr lang="zh-CN" altLang="en-US" sz="12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代码仓介绍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2901" y="1191986"/>
            <a:ext cx="11849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SIG</a:t>
            </a:r>
            <a:r>
              <a:rPr lang="zh-CN" altLang="en-US" dirty="0"/>
              <a:t>组的主要代码仓，各代码仓定位，功能简介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98894" y="1842043"/>
          <a:ext cx="11050905" cy="12896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7976"/>
                <a:gridCol w="1239391"/>
                <a:gridCol w="6694805"/>
                <a:gridCol w="1798733"/>
              </a:tblGrid>
              <a:tr h="4832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代码仓</a:t>
                      </a:r>
                      <a:endParaRPr lang="zh-CN" altLang="en-US" sz="12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定位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代码仓简介</a:t>
                      </a:r>
                      <a:endParaRPr lang="zh-CN" altLang="en-US" sz="12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LICENSE</a:t>
                      </a:r>
                      <a:endParaRPr lang="en-US" altLang="zh-CN" sz="12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竞争力描述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主要竞争力点介绍（功能、性能、生态兼容、易用性等方面，可以是规划中的）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三方件依赖引入（不涉及跳过）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29596" y="1372808"/>
          <a:ext cx="10720070" cy="28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60"/>
                <a:gridCol w="1503680"/>
                <a:gridCol w="1808480"/>
                <a:gridCol w="1899920"/>
                <a:gridCol w="1132840"/>
                <a:gridCol w="1130300"/>
                <a:gridCol w="1276985"/>
                <a:gridCol w="1170305"/>
              </a:tblGrid>
              <a:tr h="943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序号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三方件名称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上游社区地址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上游社区状态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zh-CN" altLang="en-US" sz="1400" dirty="0">
                          <a:solidFill>
                            <a:srgbClr val="0000FF"/>
                          </a:solidFill>
                        </a:rPr>
                        <a:t>发展期、成熟期、衰退期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社区最新发布版本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引入版本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是否正式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发布版本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LICENSE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76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29596" y="4916768"/>
            <a:ext cx="9097116" cy="674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b="0">
                <a:solidFill>
                  <a:srgbClr val="000000"/>
                </a:solidFill>
                <a:latin typeface="BlinkMacSystemFont" charset="0"/>
              </a:rPr>
              <a:t>选型指导</a:t>
            </a:r>
            <a:r>
              <a:rPr lang="zh-CN" altLang="en-US" sz="1400" b="0">
                <a:solidFill>
                  <a:srgbClr val="3D4757"/>
                </a:solidFill>
                <a:latin typeface="BlinkMacSystemFont" charset="0"/>
              </a:rPr>
              <a:t>：</a:t>
            </a:r>
            <a:endParaRPr lang="en-US" sz="1400" b="0">
              <a:solidFill>
                <a:srgbClr val="3D4757"/>
              </a:solidFill>
              <a:latin typeface="BlinkMacSystemFont" charset="0"/>
            </a:endParaRPr>
          </a:p>
          <a:p>
            <a:r>
              <a:rPr lang="en-US" sz="1200" b="0">
                <a:solidFill>
                  <a:srgbClr val="3D4757"/>
                </a:solidFill>
                <a:latin typeface="BlinkMacSystemFont" charset="0"/>
              </a:rPr>
              <a:t>https://gitcode.com/cann/community/blob/master/contributor/third_party/third_party_maintenance.md</a:t>
            </a:r>
            <a:endParaRPr lang="en-US" altLang="en-US" sz="1200" b="0">
              <a:solidFill>
                <a:srgbClr val="3D4757"/>
              </a:solidFill>
              <a:latin typeface="BlinkMacSystemFont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洞察对标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</a:rPr>
              <a:t>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、业界对标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、差异比较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年规划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、未来一年的技术方向是什么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endParaRPr lang="zh-CN" sz="2400" b="1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9615" y="1191986"/>
            <a:ext cx="10720263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a typeface="+mn-lt"/>
                <a:cs typeface="+mn-lt"/>
              </a:rPr>
              <a:t>新建</a:t>
            </a:r>
            <a:r>
              <a:rPr lang="en-US" altLang="zh-CN" b="1" dirty="0">
                <a:ea typeface="+mn-lt"/>
                <a:cs typeface="+mn-lt"/>
              </a:rPr>
              <a:t>sig</a:t>
            </a:r>
            <a:r>
              <a:rPr lang="zh-CN" altLang="en-US" b="1" dirty="0">
                <a:ea typeface="+mn-lt"/>
                <a:cs typeface="+mn-lt"/>
              </a:rPr>
              <a:t>命名规范：</a:t>
            </a:r>
            <a:endParaRPr lang="zh-CN" altLang="en-US" b="1" dirty="0">
              <a:ea typeface="+mn-lt"/>
              <a:cs typeface="+mn-lt"/>
            </a:endParaRPr>
          </a:p>
          <a:p>
            <a:pPr indent="457200"/>
            <a:r>
              <a:rPr lang="en-US" altLang="zh-CN" dirty="0">
                <a:ea typeface="+mn-lt"/>
                <a:cs typeface="+mn-lt"/>
              </a:rPr>
              <a:t>1</a:t>
            </a:r>
            <a:r>
              <a:rPr lang="zh-CN" altLang="en-US" dirty="0">
                <a:ea typeface="+mn-lt"/>
                <a:cs typeface="+mn-lt"/>
              </a:rPr>
              <a:t>、简洁清晰：一眼看懂领域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职责，无歧义。</a:t>
            </a:r>
            <a:endParaRPr lang="zh-CN" altLang="en-US" dirty="0">
              <a:ea typeface="+mn-lt"/>
              <a:cs typeface="+mn-lt"/>
            </a:endParaRPr>
          </a:p>
          <a:p>
            <a:pPr indent="457200"/>
            <a:r>
              <a:rPr lang="en-US" altLang="zh-CN" dirty="0">
                <a:ea typeface="+mn-lt"/>
                <a:cs typeface="+mn-lt"/>
              </a:rPr>
              <a:t>2</a:t>
            </a:r>
            <a:r>
              <a:rPr lang="zh-CN" altLang="en-US" dirty="0">
                <a:ea typeface="+mn-lt"/>
                <a:cs typeface="+mn-lt"/>
              </a:rPr>
              <a:t>、名词优先：建议优先使用名词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名词短语，少动词、形容词。</a:t>
            </a:r>
            <a:endParaRPr lang="zh-CN" altLang="en-US" dirty="0">
              <a:ea typeface="+mn-lt"/>
              <a:cs typeface="+mn-lt"/>
            </a:endParaRPr>
          </a:p>
          <a:p>
            <a:pPr indent="457200"/>
            <a:r>
              <a:rPr lang="en-US" altLang="zh-CN" dirty="0">
                <a:ea typeface="+mn-lt"/>
                <a:cs typeface="+mn-lt"/>
              </a:rPr>
              <a:t>3</a:t>
            </a:r>
            <a:r>
              <a:rPr lang="zh-CN" altLang="en-US" dirty="0">
                <a:ea typeface="+mn-lt"/>
                <a:cs typeface="+mn-lt"/>
              </a:rPr>
              <a:t>、统一格式：原则上应全小写，中划线分割（</a:t>
            </a:r>
            <a:r>
              <a:rPr lang="en-US" altLang="zh-CN" dirty="0">
                <a:ea typeface="+mn-lt"/>
                <a:cs typeface="+mn-lt"/>
              </a:rPr>
              <a:t>lower-with-hyphen</a:t>
            </a:r>
            <a:r>
              <a:rPr lang="zh-CN" altLang="en-US" dirty="0">
                <a:ea typeface="+mn-lt"/>
                <a:cs typeface="+mn-lt"/>
              </a:rPr>
              <a:t>），无空格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下划线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驼峰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特殊字符，单词数量建议不超过</a:t>
            </a:r>
            <a:r>
              <a:rPr lang="en-US" altLang="zh-CN" dirty="0">
                <a:ea typeface="+mn-lt"/>
                <a:cs typeface="+mn-lt"/>
              </a:rPr>
              <a:t>3</a:t>
            </a:r>
            <a:r>
              <a:rPr lang="zh-CN" altLang="en-US" dirty="0">
                <a:ea typeface="+mn-lt"/>
                <a:cs typeface="+mn-lt"/>
              </a:rPr>
              <a:t>个。</a:t>
            </a:r>
            <a:endParaRPr lang="zh-CN" altLang="en-US" dirty="0">
              <a:ea typeface="+mn-lt"/>
              <a:cs typeface="+mn-lt"/>
            </a:endParaRPr>
          </a:p>
          <a:p>
            <a:pPr indent="457200"/>
            <a:r>
              <a:rPr lang="en-US" altLang="zh-CN" dirty="0">
                <a:ea typeface="+mn-lt"/>
                <a:cs typeface="+mn-lt"/>
              </a:rPr>
              <a:t>4</a:t>
            </a:r>
            <a:r>
              <a:rPr lang="zh-CN" altLang="en-US" dirty="0">
                <a:ea typeface="+mn-lt"/>
                <a:cs typeface="+mn-lt"/>
              </a:rPr>
              <a:t>、唯一不重复：不与现有</a:t>
            </a:r>
            <a:r>
              <a:rPr lang="en-US" altLang="zh-CN" dirty="0">
                <a:ea typeface="+mn-lt"/>
                <a:cs typeface="+mn-lt"/>
              </a:rPr>
              <a:t>SIG</a:t>
            </a:r>
            <a:r>
              <a:rPr lang="zh-CN" altLang="en-US" dirty="0">
                <a:ea typeface="+mn-lt"/>
                <a:cs typeface="+mn-lt"/>
              </a:rPr>
              <a:t>、项目重名。</a:t>
            </a:r>
            <a:endParaRPr lang="zh-CN" altLang="en-US" dirty="0">
              <a:ea typeface="+mn-lt"/>
              <a:cs typeface="+mn-lt"/>
            </a:endParaRPr>
          </a:p>
          <a:p>
            <a:pPr indent="457200"/>
            <a:r>
              <a:rPr lang="en-US" altLang="zh-CN" dirty="0">
                <a:ea typeface="+mn-lt"/>
                <a:cs typeface="+mn-lt"/>
              </a:rPr>
              <a:t>5</a:t>
            </a:r>
            <a:r>
              <a:rPr lang="zh-CN" altLang="en-US" dirty="0">
                <a:ea typeface="+mn-lt"/>
                <a:cs typeface="+mn-lt"/>
              </a:rPr>
              <a:t>、命名格式：</a:t>
            </a:r>
            <a:r>
              <a:rPr lang="en-US" altLang="zh-CN" dirty="0">
                <a:ea typeface="+mn-lt"/>
                <a:cs typeface="+mn-lt"/>
              </a:rPr>
              <a:t>&lt;</a:t>
            </a:r>
            <a:r>
              <a:rPr lang="zh-CN" altLang="en-US" dirty="0">
                <a:ea typeface="+mn-lt"/>
                <a:cs typeface="+mn-lt"/>
              </a:rPr>
              <a:t>领域</a:t>
            </a:r>
            <a:r>
              <a:rPr lang="en-US" altLang="zh-CN" dirty="0">
                <a:ea typeface="+mn-lt"/>
                <a:cs typeface="+mn-lt"/>
              </a:rPr>
              <a:t>/</a:t>
            </a:r>
            <a:r>
              <a:rPr lang="zh-CN" altLang="en-US" dirty="0">
                <a:ea typeface="+mn-lt"/>
                <a:cs typeface="+mn-lt"/>
              </a:rPr>
              <a:t>主题</a:t>
            </a:r>
            <a:r>
              <a:rPr lang="en-US" altLang="zh-CN" dirty="0">
                <a:ea typeface="+mn-lt"/>
                <a:cs typeface="+mn-lt"/>
              </a:rPr>
              <a:t>&gt;</a:t>
            </a:r>
            <a:r>
              <a:rPr lang="zh-CN" altLang="en-US" dirty="0">
                <a:ea typeface="+mn-lt"/>
                <a:cs typeface="+mn-lt"/>
              </a:rPr>
              <a:t>，例如</a:t>
            </a:r>
            <a:r>
              <a:rPr lang="en-US" altLang="zh-CN" dirty="0">
                <a:ea typeface="+mn-lt"/>
                <a:cs typeface="+mn-lt"/>
              </a:rPr>
              <a:t>hccl</a:t>
            </a:r>
            <a:r>
              <a:rPr lang="zh-CN" altLang="en-US" dirty="0">
                <a:ea typeface="+mn-lt"/>
                <a:cs typeface="+mn-lt"/>
              </a:rPr>
              <a:t>、</a:t>
            </a:r>
            <a:r>
              <a:rPr lang="en-US" altLang="zh-CN" dirty="0">
                <a:ea typeface="+mn-lt"/>
                <a:cs typeface="+mn-lt"/>
              </a:rPr>
              <a:t>ops-basic</a:t>
            </a:r>
            <a:r>
              <a:rPr lang="zh-CN" altLang="en-US" dirty="0">
                <a:ea typeface="+mn-lt"/>
                <a:cs typeface="+mn-lt"/>
              </a:rPr>
              <a:t>。</a:t>
            </a:r>
            <a:endParaRPr lang="zh-CN" alt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  <a:endParaRPr lang="zh-CN" alt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社区愿景：打造开放易用、技术领先的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算力新生态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社区使命：使能开发者基于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社区自主研究创新，构筑根深叶茂、跨产业协同共享共赢的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Vision: Building an Open, Easy-to-Use, and Technology-leading AI Computing Ecosystem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587" y="3938025"/>
            <a:ext cx="1600438" cy="16004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上</a:t>
            </a:r>
            <a:r>
              <a:rPr lang="en-US" altLang="zh-CN" sz="1000" dirty="0"/>
              <a:t>CANN</a:t>
            </a:r>
            <a:r>
              <a:rPr lang="zh-CN" altLang="en-US" sz="1000" dirty="0"/>
              <a:t>社区获取干货</a:t>
            </a:r>
            <a:endParaRPr lang="zh-CN" altLang="en-US" sz="1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关注</a:t>
            </a:r>
            <a:r>
              <a:rPr lang="en-US" altLang="zh-CN" sz="1000" dirty="0"/>
              <a:t>CANN</a:t>
            </a:r>
            <a:r>
              <a:rPr lang="zh-CN" altLang="en-US" sz="1000" dirty="0"/>
              <a:t>公众号获取资讯</a:t>
            </a:r>
            <a:endParaRPr lang="zh-CN" altLang="en-US" sz="1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WPS 演示</Application>
  <PresentationFormat>宽屏</PresentationFormat>
  <Paragraphs>124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BlinkMacSystemFont</vt:lpstr>
      <vt:lpstr>Segoe Print</vt:lpstr>
      <vt:lpstr>等线 Light</vt:lpstr>
      <vt:lpstr>Arial Unicode MS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aoxuejiao</dc:creator>
  <cp:lastModifiedBy>说你呢</cp:lastModifiedBy>
  <cp:revision>15</cp:revision>
  <dcterms:created xsi:type="dcterms:W3CDTF">2026-02-27T07:29:00Z</dcterms:created>
  <dcterms:modified xsi:type="dcterms:W3CDTF">2026-05-19T08:27:28Z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3DDF482C71CEA81A27D3D8686004DB1C_42</vt:lpwstr>
  </property>
  <property fmtid="{D5CDD505-2E9C-101B-9397-08002B2CF9AE}" pid="3" name="KSOProductBuildVer">
    <vt:lpwstr>2052-12.1.0.25865</vt:lpwstr>
  </property>
</Properties>
</file>