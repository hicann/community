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3" r:id="rId7"/>
    <p:sldId id="25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AFC-7326-4899-9BEC-7E31906EAAB6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9947" y="1399429"/>
            <a:ext cx="64011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社区新建仓申请模板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76791" y="2313830"/>
            <a:ext cx="229302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>目录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157696" y="1818829"/>
            <a:ext cx="4483260" cy="2351755"/>
            <a:chOff x="7422109" y="3690364"/>
            <a:chExt cx="972161" cy="1176369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/>
                </a:rPr>
                <a:t>Part 1 XXX</a:t>
              </a:r>
              <a:r>
                <a:rPr lang="zh-CN" altLang="en-US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/>
                </a:rPr>
                <a:t>仓介绍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122696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/>
                  <a:cs typeface="+mn-cs"/>
                </a:rPr>
                <a:t>Part 2 </a:t>
              </a:r>
              <a:r>
                <a:rPr lang="zh-CN" altLang="en-US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竞争力描述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572854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Part 3 </a:t>
              </a:r>
              <a:r>
                <a:rPr lang="zh-CN" altLang="en-US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/>
                </a:rPr>
                <a:t>三方件依赖情况</a:t>
              </a: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</a:rPr>
              <a:t>介绍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6FFEA-E493-4158-827D-0C98F14BBD25}"/>
              </a:ext>
            </a:extLst>
          </p:cNvPr>
          <p:cNvSpPr txBox="1"/>
          <p:nvPr/>
        </p:nvSpPr>
        <p:spPr>
          <a:xfrm>
            <a:off x="729615" y="1191986"/>
            <a:ext cx="10720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、仓介绍（做什么）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、仓的定位（在</a:t>
            </a:r>
            <a:r>
              <a:rPr lang="en-US" altLang="zh-CN" dirty="0"/>
              <a:t>CANN</a:t>
            </a:r>
            <a:r>
              <a:rPr lang="zh-CN" altLang="en-US" dirty="0"/>
              <a:t>社区</a:t>
            </a:r>
            <a:r>
              <a:rPr lang="en-US" altLang="zh-CN" dirty="0"/>
              <a:t>/</a:t>
            </a:r>
            <a:r>
              <a:rPr lang="zh-CN" altLang="en-US" dirty="0"/>
              <a:t>架构中，要解决的问题，发挥的作用）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、代码仓结构图（模块划分、作用等）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、代码仓的</a:t>
            </a:r>
            <a:r>
              <a:rPr lang="en-US" altLang="zh-CN" dirty="0"/>
              <a:t>committer</a:t>
            </a:r>
            <a:r>
              <a:rPr lang="zh-CN" altLang="en-US" dirty="0"/>
              <a:t>人员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、对外接口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竞争力描述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6FFEA-E493-4158-827D-0C98F14BBD25}"/>
              </a:ext>
            </a:extLst>
          </p:cNvPr>
          <p:cNvSpPr txBox="1"/>
          <p:nvPr/>
        </p:nvSpPr>
        <p:spPr>
          <a:xfrm>
            <a:off x="729615" y="1191986"/>
            <a:ext cx="1072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主要竞争力点介绍（功能、性能、生态兼容、易用性等方面）</a:t>
            </a:r>
          </a:p>
        </p:txBody>
      </p:sp>
    </p:spTree>
    <p:extLst>
      <p:ext uri="{BB962C8B-B14F-4D97-AF65-F5344CB8AC3E}">
        <p14:creationId xmlns:p14="http://schemas.microsoft.com/office/powerpoint/2010/main" val="2303888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洞察对标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</a:rPr>
              <a:t>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E6FFEA-E493-4158-827D-0C98F14BBD25}"/>
              </a:ext>
            </a:extLst>
          </p:cNvPr>
          <p:cNvSpPr txBox="1"/>
          <p:nvPr/>
        </p:nvSpPr>
        <p:spPr>
          <a:xfrm>
            <a:off x="729615" y="1191986"/>
            <a:ext cx="1072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、业界对标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、差异比较</a:t>
            </a:r>
          </a:p>
        </p:txBody>
      </p:sp>
    </p:spTree>
    <p:extLst>
      <p:ext uri="{BB962C8B-B14F-4D97-AF65-F5344CB8AC3E}">
        <p14:creationId xmlns:p14="http://schemas.microsoft.com/office/powerpoint/2010/main" val="128448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三方件依赖引入（不涉及跳过）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0B05B05-EFE4-4C45-9182-A5B192771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840041"/>
              </p:ext>
            </p:extLst>
          </p:nvPr>
        </p:nvGraphicFramePr>
        <p:xfrm>
          <a:off x="729615" y="1372808"/>
          <a:ext cx="11378019" cy="2856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196">
                  <a:extLst>
                    <a:ext uri="{9D8B030D-6E8A-4147-A177-3AD203B41FA5}">
                      <a16:colId xmlns:a16="http://schemas.microsoft.com/office/drawing/2014/main" val="3409577361"/>
                    </a:ext>
                  </a:extLst>
                </a:gridCol>
                <a:gridCol w="1595618">
                  <a:extLst>
                    <a:ext uri="{9D8B030D-6E8A-4147-A177-3AD203B41FA5}">
                      <a16:colId xmlns:a16="http://schemas.microsoft.com/office/drawing/2014/main" val="1863677302"/>
                    </a:ext>
                  </a:extLst>
                </a:gridCol>
                <a:gridCol w="1918724">
                  <a:extLst>
                    <a:ext uri="{9D8B030D-6E8A-4147-A177-3AD203B41FA5}">
                      <a16:colId xmlns:a16="http://schemas.microsoft.com/office/drawing/2014/main" val="1089370053"/>
                    </a:ext>
                  </a:extLst>
                </a:gridCol>
                <a:gridCol w="2017717">
                  <a:extLst>
                    <a:ext uri="{9D8B030D-6E8A-4147-A177-3AD203B41FA5}">
                      <a16:colId xmlns:a16="http://schemas.microsoft.com/office/drawing/2014/main" val="2850516238"/>
                    </a:ext>
                  </a:extLst>
                </a:gridCol>
                <a:gridCol w="1201097">
                  <a:extLst>
                    <a:ext uri="{9D8B030D-6E8A-4147-A177-3AD203B41FA5}">
                      <a16:colId xmlns:a16="http://schemas.microsoft.com/office/drawing/2014/main" val="4014393572"/>
                    </a:ext>
                  </a:extLst>
                </a:gridCol>
                <a:gridCol w="1201097">
                  <a:extLst>
                    <a:ext uri="{9D8B030D-6E8A-4147-A177-3AD203B41FA5}">
                      <a16:colId xmlns:a16="http://schemas.microsoft.com/office/drawing/2014/main" val="1137044999"/>
                    </a:ext>
                  </a:extLst>
                </a:gridCol>
                <a:gridCol w="1355156">
                  <a:extLst>
                    <a:ext uri="{9D8B030D-6E8A-4147-A177-3AD203B41FA5}">
                      <a16:colId xmlns:a16="http://schemas.microsoft.com/office/drawing/2014/main" val="4176205573"/>
                    </a:ext>
                  </a:extLst>
                </a:gridCol>
                <a:gridCol w="1241414">
                  <a:extLst>
                    <a:ext uri="{9D8B030D-6E8A-4147-A177-3AD203B41FA5}">
                      <a16:colId xmlns:a16="http://schemas.microsoft.com/office/drawing/2014/main" val="3321210865"/>
                    </a:ext>
                  </a:extLst>
                </a:gridCol>
              </a:tblGrid>
              <a:tr h="9432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序号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三方件名称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上游社区状态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zh-CN" altLang="en-US" sz="1400" dirty="0">
                          <a:solidFill>
                            <a:srgbClr val="0000FF"/>
                          </a:solidFill>
                        </a:rPr>
                        <a:t>发展期、成熟期、衰退期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社区最新发布版本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引入版本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是否正式</a:t>
                      </a:r>
                      <a:endParaRPr lang="en-US" altLang="zh-C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发布版本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License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661131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118457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610388"/>
                  </a:ext>
                </a:extLst>
              </a:tr>
              <a:tr h="63768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554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749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Arial" panose="02080604020202020204" pitchFamily="34" charset="0"/>
                <a:cs typeface="Arial" panose="02080604020202020204" pitchFamily="34" charset="0"/>
              </a:rPr>
              <a:t>Thank you.</a:t>
            </a:r>
            <a:endParaRPr lang="zh-CN" altLang="en-US" sz="54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00801" y="1393264"/>
            <a:ext cx="4699220" cy="23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社区愿景：打造开放易用、技术领先的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AI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算力新生态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itchFamily="2" charset="-122"/>
              <a:ea typeface="宋体" pitchFamily="2" charset="-122"/>
              <a:cs typeface="Arial" panose="0208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社区使命：使能开发者基于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社区自主研究创新，构筑根深叶茂、跨产业协同共享共赢的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itchFamily="2" charset="-122"/>
              <a:ea typeface="宋体" pitchFamily="2" charset="-122"/>
              <a:cs typeface="Arial" panose="0208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</a:rPr>
              <a:t>Vision: Building an Open, Easy-to-Use, and Technology-leading AI Computing Ecosystem</a:t>
            </a: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587" y="3938025"/>
            <a:ext cx="1600438" cy="16004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上</a:t>
            </a:r>
            <a:r>
              <a:rPr lang="en-US" altLang="zh-CN" sz="1000" dirty="0"/>
              <a:t>CANN</a:t>
            </a:r>
            <a:r>
              <a:rPr lang="zh-CN" altLang="en-US" sz="1000" dirty="0"/>
              <a:t>社区获取干货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关注</a:t>
            </a:r>
            <a:r>
              <a:rPr lang="en-US" altLang="zh-CN" sz="1000" dirty="0"/>
              <a:t>CANN</a:t>
            </a:r>
            <a:r>
              <a:rPr lang="zh-CN" altLang="en-US" sz="1000" dirty="0"/>
              <a:t>公众号获取资讯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307</Words>
  <PresentationFormat>宽屏</PresentationFormat>
  <Paragraphs>44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宋体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2025-09-28T06:19:41Z</dcterms:created>
  <dcterms:modified xsi:type="dcterms:W3CDTF">2025-10-30T12:57:17Z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3DDF482C71CEA81A27D3D8686004DB1C_42</vt:lpwstr>
  </property>
  <property fmtid="{D5CDD505-2E9C-101B-9397-08002B2CF9AE}" pid="3" name="KSOProductBuildVer">
    <vt:lpwstr>2052-12.1.2.22571</vt:lpwstr>
  </property>
</Properties>
</file>