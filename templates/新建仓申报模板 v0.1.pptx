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3"/>
    <p:sldId id="257" r:id="rId4"/>
    <p:sldId id="259" r:id="rId5"/>
    <p:sldId id="262" r:id="rId6"/>
    <p:sldId id="260" r:id="rId7"/>
    <p:sldId id="263" r:id="rId8"/>
    <p:sldId id="264" r:id="rId9"/>
    <p:sldId id="258" r:id="rId10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6980" autoAdjust="0"/>
    <p:restoredTop sz="94660"/>
  </p:normalViewPr>
  <p:slideViewPr>
    <p:cSldViewPr snapToGrid="0">
      <p:cViewPr varScale="1">
        <p:scale>
          <a:sx n="78" d="100"/>
          <a:sy n="78" d="100"/>
        </p:scale>
        <p:origin x="72" y="12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7.xml"/><Relationship Id="rId8" Type="http://schemas.openxmlformats.org/officeDocument/2006/relationships/slide" Target="slides/slide6.xml"/><Relationship Id="rId7" Type="http://schemas.openxmlformats.org/officeDocument/2006/relationships/slide" Target="slides/slide5.xml"/><Relationship Id="rId6" Type="http://schemas.openxmlformats.org/officeDocument/2006/relationships/slide" Target="slides/slide4.xml"/><Relationship Id="rId5" Type="http://schemas.openxmlformats.org/officeDocument/2006/relationships/slide" Target="slides/slide3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3" Type="http://schemas.openxmlformats.org/officeDocument/2006/relationships/tableStyles" Target="tableStyles.xml"/><Relationship Id="rId12" Type="http://schemas.openxmlformats.org/officeDocument/2006/relationships/viewProps" Target="viewProps.xml"/><Relationship Id="rId11" Type="http://schemas.openxmlformats.org/officeDocument/2006/relationships/presProps" Target="presProps.xml"/><Relationship Id="rId10" Type="http://schemas.openxmlformats.org/officeDocument/2006/relationships/slide" Target="slides/slide8.xml"/><Relationship Id="rId1" Type="http://schemas.openxmlformats.org/officeDocument/2006/relationships/slideMaster" Target="slideMasters/slideMaster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30BAFC-7326-4899-9BEC-7E31906EAAB6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48170D-50DB-4052-9D2B-D15E249EAEF9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30BAFC-7326-4899-9BEC-7E31906EAAB6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48170D-50DB-4052-9D2B-D15E249EAEF9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30BAFC-7326-4899-9BEC-7E31906EAAB6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48170D-50DB-4052-9D2B-D15E249EAEF9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30BAFC-7326-4899-9BEC-7E31906EAAB6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48170D-50DB-4052-9D2B-D15E249EAEF9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30BAFC-7326-4899-9BEC-7E31906EAAB6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48170D-50DB-4052-9D2B-D15E249EAEF9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30BAFC-7326-4899-9BEC-7E31906EAAB6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48170D-50DB-4052-9D2B-D15E249EAEF9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30BAFC-7326-4899-9BEC-7E31906EAAB6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48170D-50DB-4052-9D2B-D15E249EAEF9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30BAFC-7326-4899-9BEC-7E31906EAAB6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48170D-50DB-4052-9D2B-D15E249EAEF9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30BAFC-7326-4899-9BEC-7E31906EAAB6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48170D-50DB-4052-9D2B-D15E249EAEF9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30BAFC-7326-4899-9BEC-7E31906EAAB6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48170D-50DB-4052-9D2B-D15E249EAEF9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30BAFC-7326-4899-9BEC-7E31906EAAB6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48170D-50DB-4052-9D2B-D15E249EAEF9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E30BAFC-7326-4899-9BEC-7E31906EAAB6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A48170D-50DB-4052-9D2B-D15E249EAEF9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.jpe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2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2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2.png"/></Relationships>
</file>

<file path=ppt/slides/_rels/slide8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1.xml"/><Relationship Id="rId3" Type="http://schemas.openxmlformats.org/officeDocument/2006/relationships/image" Target="../media/image4.jpeg"/><Relationship Id="rId2" Type="http://schemas.openxmlformats.org/officeDocument/2006/relationships/image" Target="../media/image2.png"/><Relationship Id="rId1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文本框 15"/>
          <p:cNvSpPr txBox="1"/>
          <p:nvPr/>
        </p:nvSpPr>
        <p:spPr>
          <a:xfrm>
            <a:off x="620201" y="6130454"/>
            <a:ext cx="154721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000" dirty="0">
                <a:solidFill>
                  <a:schemeClr val="bg1">
                    <a:lumMod val="50000"/>
                  </a:schemeClr>
                </a:solidFill>
                <a:latin typeface="+mj-ea"/>
                <a:ea typeface="+mj-ea"/>
                <a:cs typeface="Arial" panose="020B0604020202020204" pitchFamily="34" charset="0"/>
              </a:rPr>
              <a:t>https://gitcode.com/cann</a:t>
            </a:r>
            <a:endParaRPr lang="zh-CN" altLang="en-US" sz="1000" dirty="0">
              <a:solidFill>
                <a:schemeClr val="bg1">
                  <a:lumMod val="50000"/>
                </a:schemeClr>
              </a:solidFill>
              <a:latin typeface="+mj-ea"/>
              <a:ea typeface="+mj-ea"/>
              <a:cs typeface="Arial" panose="020B0604020202020204" pitchFamily="34" charset="0"/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1089947" y="1399429"/>
            <a:ext cx="640111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40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CANN</a:t>
            </a:r>
            <a:r>
              <a:rPr lang="zh-CN" altLang="en-US" sz="40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社区新建仓申请模板</a:t>
            </a:r>
            <a:endParaRPr lang="zh-CN" altLang="en-US" sz="4000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文本框 2"/>
          <p:cNvSpPr txBox="1"/>
          <p:nvPr/>
        </p:nvSpPr>
        <p:spPr>
          <a:xfrm>
            <a:off x="1176791" y="2313830"/>
            <a:ext cx="2293029" cy="7875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zh-CN" sz="16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作者</a:t>
            </a:r>
            <a:endParaRPr lang="en-US" altLang="zh-CN" sz="1600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>
              <a:lnSpc>
                <a:spcPct val="150000"/>
              </a:lnSpc>
            </a:pPr>
            <a:r>
              <a:rPr lang="en-US" altLang="zh-CN" sz="16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时间</a:t>
            </a:r>
            <a:endParaRPr lang="en-US" altLang="zh-CN" sz="1600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矩形 9"/>
          <p:cNvSpPr/>
          <p:nvPr/>
        </p:nvSpPr>
        <p:spPr>
          <a:xfrm>
            <a:off x="547073" y="2601035"/>
            <a:ext cx="3380868" cy="835742"/>
          </a:xfrm>
          <a:prstGeom prst="rect">
            <a:avLst/>
          </a:prstGeom>
          <a:solidFill>
            <a:srgbClr val="FFFFFF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4800" b="0" i="0" u="none" strike="noStrike" kern="0" cap="none" spc="0" normalizeH="0" baseline="0" noProof="0" dirty="0">
                <a:ln>
                  <a:noFill/>
                </a:ln>
                <a:solidFill>
                  <a:srgbClr val="DDDDDD">
                    <a:lumMod val="50000"/>
                  </a:srgbClr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  <a:sym typeface="微软雅黑" panose="020B0503020204020204" pitchFamily="34" charset="-122"/>
              </a:rPr>
              <a:t>目录</a:t>
            </a:r>
            <a:endParaRPr kumimoji="0" lang="zh-CN" altLang="en-US" sz="4800" b="0" i="0" u="none" strike="noStrike" kern="0" cap="none" spc="0" normalizeH="0" baseline="0" noProof="0" dirty="0">
              <a:ln>
                <a:noFill/>
              </a:ln>
              <a:solidFill>
                <a:srgbClr val="DDDDDD">
                  <a:lumMod val="50000"/>
                </a:srgbClr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  <a:sym typeface="微软雅黑" panose="020B0503020204020204" pitchFamily="34" charset="-122"/>
            </a:endParaRPr>
          </a:p>
        </p:txBody>
      </p:sp>
      <p:grpSp>
        <p:nvGrpSpPr>
          <p:cNvPr id="11" name="组合 10"/>
          <p:cNvGrpSpPr/>
          <p:nvPr/>
        </p:nvGrpSpPr>
        <p:grpSpPr>
          <a:xfrm>
            <a:off x="5157696" y="1818829"/>
            <a:ext cx="4483260" cy="2351755"/>
            <a:chOff x="7422109" y="3690364"/>
            <a:chExt cx="972161" cy="1176369"/>
          </a:xfrm>
        </p:grpSpPr>
        <p:sp>
          <p:nvSpPr>
            <p:cNvPr id="12" name="矩形 11"/>
            <p:cNvSpPr/>
            <p:nvPr/>
          </p:nvSpPr>
          <p:spPr>
            <a:xfrm>
              <a:off x="7422109" y="3690364"/>
              <a:ext cx="972161" cy="298162"/>
            </a:xfrm>
            <a:prstGeom prst="rect">
              <a:avLst/>
            </a:prstGeom>
            <a:solidFill>
              <a:srgbClr val="C00000"/>
            </a:solidFill>
            <a:ln w="9525" cap="flat" cmpd="sng" algn="ctr">
              <a:solidFill>
                <a:srgbClr val="FFFFFF">
                  <a:lumMod val="65000"/>
                </a:srgbClr>
              </a:solidFill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noAutofit/>
            </a:bodyPr>
            <a:lstStyle/>
            <a:p>
              <a:pPr algn="ctr" defTabSz="914400"/>
              <a:r>
                <a:rPr lang="en-US" altLang="zh-CN" sz="2400" kern="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Part 1 XXX</a:t>
              </a:r>
              <a:r>
                <a:rPr lang="zh-CN" altLang="en-US" sz="2400" kern="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仓介绍</a:t>
              </a:r>
              <a:endParaRPr lang="zh-CN" altLang="en-US" sz="2400" kern="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3" name="矩形 12"/>
            <p:cNvSpPr/>
            <p:nvPr/>
          </p:nvSpPr>
          <p:spPr>
            <a:xfrm>
              <a:off x="7422109" y="4122696"/>
              <a:ext cx="972161" cy="296021"/>
            </a:xfrm>
            <a:prstGeom prst="rect">
              <a:avLst/>
            </a:prstGeom>
            <a:solidFill>
              <a:srgbClr val="FFFFFF">
                <a:lumMod val="95000"/>
              </a:srgbClr>
            </a:solidFill>
            <a:ln w="9525" cap="flat" cmpd="sng" algn="ctr">
              <a:solidFill>
                <a:srgbClr val="FFFFFF">
                  <a:lumMod val="65000"/>
                </a:srgbClr>
              </a:solidFill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altLang="zh-CN" sz="2400" b="0" i="0" u="none" strike="noStrike" kern="0" cap="none" spc="0" normalizeH="0" baseline="0" noProof="0" dirty="0">
                  <a:ln>
                    <a:noFill/>
                  </a:ln>
                  <a:solidFill>
                    <a:srgbClr val="FFFFFF">
                      <a:lumMod val="75000"/>
                    </a:srgbClr>
                  </a:solidFill>
                  <a:effectLst/>
                  <a:uLnTx/>
                  <a:uFillTx/>
                  <a:latin typeface="微软雅黑" panose="020B0503020204020204" pitchFamily="34" charset="-122"/>
                  <a:ea typeface="微软雅黑" panose="020B0503020204020204" pitchFamily="34" charset="-122"/>
                  <a:cs typeface="+mn-cs"/>
                </a:rPr>
                <a:t>Part 2 </a:t>
              </a:r>
              <a:r>
                <a:rPr lang="zh-CN" altLang="en-US" sz="2400" kern="0" dirty="0">
                  <a:solidFill>
                    <a:srgbClr val="FFFFFF">
                      <a:lumMod val="75000"/>
                    </a:srgb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竞争力描述</a:t>
              </a:r>
              <a:endParaRPr kumimoji="0" lang="zh-CN" alt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FFFFFF">
                    <a:lumMod val="75000"/>
                  </a:srgbClr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14" name="矩形 13"/>
            <p:cNvSpPr/>
            <p:nvPr/>
          </p:nvSpPr>
          <p:spPr>
            <a:xfrm>
              <a:off x="7422109" y="4572854"/>
              <a:ext cx="972161" cy="293879"/>
            </a:xfrm>
            <a:prstGeom prst="rect">
              <a:avLst/>
            </a:prstGeom>
            <a:solidFill>
              <a:srgbClr val="FFFFFF">
                <a:lumMod val="95000"/>
              </a:srgbClr>
            </a:solidFill>
            <a:ln w="9525" cap="flat" cmpd="sng" algn="ctr">
              <a:solidFill>
                <a:srgbClr val="FFFFFF">
                  <a:lumMod val="65000"/>
                </a:srgbClr>
              </a:solidFill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noAutofit/>
            </a:bodyPr>
            <a:lstStyle/>
            <a:p>
              <a:pPr algn="ctr" defTabSz="914400"/>
              <a:r>
                <a:rPr lang="en-US" altLang="zh-CN" sz="2400" kern="0" dirty="0">
                  <a:solidFill>
                    <a:srgbClr val="FFFFFF">
                      <a:lumMod val="75000"/>
                    </a:srgb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Part 3 </a:t>
              </a:r>
              <a:r>
                <a:rPr lang="zh-CN" altLang="en-US" sz="2400" kern="0" dirty="0">
                  <a:solidFill>
                    <a:srgbClr val="FFFFFF">
                      <a:lumMod val="75000"/>
                    </a:srgb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三方件依赖情况</a:t>
              </a:r>
              <a:endParaRPr lang="zh-CN" altLang="en-US" sz="2400" kern="0" dirty="0">
                <a:solidFill>
                  <a:srgbClr val="FFFFFF">
                    <a:lumMod val="75000"/>
                  </a:srgbClr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  <p:cxnSp>
        <p:nvCxnSpPr>
          <p:cNvPr id="15" name="í$ľidè"/>
          <p:cNvCxnSpPr/>
          <p:nvPr/>
        </p:nvCxnSpPr>
        <p:spPr>
          <a:xfrm>
            <a:off x="3956272" y="1890392"/>
            <a:ext cx="0" cy="2769071"/>
          </a:xfrm>
          <a:prstGeom prst="line">
            <a:avLst/>
          </a:prstGeom>
          <a:solidFill>
            <a:srgbClr val="FFCC00"/>
          </a:solidFill>
          <a:ln w="12700" cap="flat" cmpd="sng" algn="ctr">
            <a:solidFill>
              <a:schemeClr val="bg1">
                <a:lumMod val="6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pic>
        <p:nvPicPr>
          <p:cNvPr id="8" name="图片 7"/>
          <p:cNvPicPr>
            <a:picLocks noChangeAspect="1"/>
          </p:cNvPicPr>
          <p:nvPr/>
        </p:nvPicPr>
        <p:blipFill>
          <a:blip r:embed="rId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37202" y="6042990"/>
            <a:ext cx="1312676" cy="348426"/>
          </a:xfrm>
          <a:prstGeom prst="rect">
            <a:avLst/>
          </a:prstGeom>
        </p:spPr>
      </p:pic>
      <p:sp>
        <p:nvSpPr>
          <p:cNvPr id="17" name="文本框 16"/>
          <p:cNvSpPr txBox="1"/>
          <p:nvPr/>
        </p:nvSpPr>
        <p:spPr>
          <a:xfrm>
            <a:off x="620201" y="6130454"/>
            <a:ext cx="154721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000" dirty="0">
                <a:solidFill>
                  <a:schemeClr val="bg1">
                    <a:lumMod val="50000"/>
                  </a:schemeClr>
                </a:solidFill>
                <a:latin typeface="+mj-ea"/>
                <a:ea typeface="+mj-ea"/>
                <a:cs typeface="Arial" panose="020B0604020202020204" pitchFamily="34" charset="0"/>
              </a:rPr>
              <a:t>https://gitcode.com/cann</a:t>
            </a:r>
            <a:endParaRPr lang="zh-CN" altLang="en-US" sz="1000" dirty="0">
              <a:solidFill>
                <a:schemeClr val="bg1">
                  <a:lumMod val="50000"/>
                </a:schemeClr>
              </a:solidFill>
              <a:latin typeface="+mj-ea"/>
              <a:ea typeface="+mj-ea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图片 7"/>
          <p:cNvPicPr>
            <a:picLocks noChangeAspect="1"/>
          </p:cNvPicPr>
          <p:nvPr/>
        </p:nvPicPr>
        <p:blipFill>
          <a:blip r:embed="rId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37202" y="6042990"/>
            <a:ext cx="1312676" cy="348426"/>
          </a:xfrm>
          <a:prstGeom prst="rect">
            <a:avLst/>
          </a:prstGeom>
        </p:spPr>
      </p:pic>
      <p:sp>
        <p:nvSpPr>
          <p:cNvPr id="17" name="文本框 16"/>
          <p:cNvSpPr txBox="1"/>
          <p:nvPr/>
        </p:nvSpPr>
        <p:spPr>
          <a:xfrm>
            <a:off x="620201" y="6130454"/>
            <a:ext cx="154721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000" dirty="0">
                <a:solidFill>
                  <a:schemeClr val="bg1">
                    <a:lumMod val="50000"/>
                  </a:schemeClr>
                </a:solidFill>
                <a:latin typeface="+mj-ea"/>
                <a:ea typeface="+mj-ea"/>
                <a:cs typeface="Arial" panose="020B0604020202020204" pitchFamily="34" charset="0"/>
              </a:rPr>
              <a:t>https://gitcode.com/cann</a:t>
            </a:r>
            <a:endParaRPr lang="zh-CN" altLang="en-US" sz="1000" dirty="0">
              <a:solidFill>
                <a:schemeClr val="bg1">
                  <a:lumMod val="50000"/>
                </a:schemeClr>
              </a:solidFill>
              <a:latin typeface="+mj-ea"/>
              <a:ea typeface="+mj-ea"/>
              <a:cs typeface="Arial" panose="020B0604020202020204" pitchFamily="34" charset="0"/>
            </a:endParaRPr>
          </a:p>
        </p:txBody>
      </p:sp>
      <p:sp>
        <p:nvSpPr>
          <p:cNvPr id="16" name="副标题 1"/>
          <p:cNvSpPr txBox="1"/>
          <p:nvPr/>
        </p:nvSpPr>
        <p:spPr>
          <a:xfrm>
            <a:off x="729615" y="326390"/>
            <a:ext cx="11099165" cy="581025"/>
          </a:xfrm>
          <a:prstGeom prst="rect">
            <a:avLst/>
          </a:prstGeom>
        </p:spPr>
        <p:txBody>
          <a:bodyPr lIns="0" tIns="0" rIns="0" bIns="0" anchor="ctr" anchorCtr="0">
            <a:normAutofit/>
          </a:bodyPr>
          <a:lstStyle>
            <a:lvl1pPr marL="0" indent="0" algn="l" defTabSz="1187450" rtl="0" eaLnBrk="1" latinLnBrk="0" hangingPunct="1">
              <a:lnSpc>
                <a:spcPts val="3430"/>
              </a:lnSpc>
              <a:spcBef>
                <a:spcPts val="0"/>
              </a:spcBef>
              <a:buFont typeface="Arial" panose="020B0604020202020204" pitchFamily="34" charset="0"/>
              <a:buNone/>
              <a:defRPr sz="2400" kern="1200" baseline="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defRPr>
            </a:lvl1pPr>
            <a:lvl2pPr marL="593725" indent="0" algn="ctr" defTabSz="1187450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None/>
              <a:defRPr sz="259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87450" indent="0" algn="ctr" defTabSz="1187450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None/>
              <a:defRPr sz="233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781175" indent="0" algn="ctr" defTabSz="1187450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None/>
              <a:defRPr sz="208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374900" indent="0" algn="ctr" defTabSz="1187450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None/>
              <a:defRPr sz="208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967990" indent="0" algn="ctr" defTabSz="1187450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None/>
              <a:defRPr sz="208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561715" indent="0" algn="ctr" defTabSz="1187450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None/>
              <a:defRPr sz="208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155440" indent="0" algn="ctr" defTabSz="1187450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None/>
              <a:defRPr sz="208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749165" indent="0" algn="ctr" defTabSz="1187450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None/>
              <a:defRPr sz="208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zh-CN" altLang="en-US" sz="2800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仓</a:t>
            </a:r>
            <a:r>
              <a:rPr lang="zh-CN" altLang="en-US" sz="2800" b="1" dirty="0">
                <a:solidFill>
                  <a:srgbClr val="C00000"/>
                </a:solidFill>
                <a:latin typeface="微软雅黑" panose="020B0503020204020204" pitchFamily="34" charset="-122"/>
              </a:rPr>
              <a:t>介绍</a:t>
            </a:r>
            <a:endParaRPr lang="zh-CN" altLang="en-US" sz="2400" b="1" dirty="0">
              <a:solidFill>
                <a:srgbClr val="C00000"/>
              </a:solidFill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729615" y="1191986"/>
            <a:ext cx="10720263" cy="175323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1</a:t>
            </a:r>
            <a:r>
              <a:rPr lang="zh-CN" altLang="en-US" dirty="0"/>
              <a:t>、仓介绍（做什么）</a:t>
            </a:r>
            <a:endParaRPr lang="en-US" altLang="zh-CN" dirty="0"/>
          </a:p>
          <a:p>
            <a:r>
              <a:rPr lang="en-US" altLang="zh-CN" dirty="0"/>
              <a:t>2</a:t>
            </a:r>
            <a:r>
              <a:rPr lang="zh-CN" altLang="en-US" dirty="0"/>
              <a:t>、仓的定位（在</a:t>
            </a:r>
            <a:r>
              <a:rPr lang="en-US" altLang="zh-CN" dirty="0"/>
              <a:t>CANN</a:t>
            </a:r>
            <a:r>
              <a:rPr lang="zh-CN" altLang="en-US" dirty="0"/>
              <a:t>社区</a:t>
            </a:r>
            <a:r>
              <a:rPr lang="en-US" altLang="zh-CN" dirty="0"/>
              <a:t>/</a:t>
            </a:r>
            <a:r>
              <a:rPr lang="zh-CN" altLang="en-US" dirty="0"/>
              <a:t>架构中，要解决的问题，发挥的作用）</a:t>
            </a:r>
            <a:endParaRPr lang="en-US" altLang="zh-CN" dirty="0"/>
          </a:p>
          <a:p>
            <a:r>
              <a:rPr lang="en-US" altLang="zh-CN" dirty="0"/>
              <a:t>3</a:t>
            </a:r>
            <a:r>
              <a:rPr lang="zh-CN" altLang="en-US" dirty="0"/>
              <a:t>、代码仓结构图（模块划分、作用等）</a:t>
            </a:r>
            <a:endParaRPr lang="en-US" altLang="zh-CN" dirty="0"/>
          </a:p>
          <a:p>
            <a:r>
              <a:rPr lang="en-US" altLang="zh-CN" dirty="0"/>
              <a:t>4</a:t>
            </a:r>
            <a:r>
              <a:rPr lang="zh-CN" altLang="en-US" dirty="0"/>
              <a:t>、代码仓的</a:t>
            </a:r>
            <a:r>
              <a:rPr lang="en-US" altLang="zh-CN" dirty="0"/>
              <a:t>maintainer/committer</a:t>
            </a:r>
            <a:r>
              <a:rPr lang="zh-CN" altLang="en-US" dirty="0"/>
              <a:t>人员</a:t>
            </a:r>
            <a:endParaRPr lang="en-US" altLang="zh-CN" dirty="0"/>
          </a:p>
          <a:p>
            <a:r>
              <a:rPr lang="en-US" altLang="zh-CN" dirty="0"/>
              <a:t>5</a:t>
            </a:r>
            <a:r>
              <a:rPr lang="zh-CN" altLang="en-US" dirty="0"/>
              <a:t>、对外接口</a:t>
            </a:r>
            <a:endParaRPr lang="zh-CN" altLang="en-US" dirty="0"/>
          </a:p>
          <a:p>
            <a:r>
              <a:rPr lang="en-US" altLang="zh-CN" dirty="0"/>
              <a:t>6</a:t>
            </a:r>
            <a:r>
              <a:rPr lang="zh-CN" altLang="en-US" dirty="0"/>
              <a:t>、开源</a:t>
            </a:r>
            <a:r>
              <a:rPr lang="en-US" altLang="zh-CN" dirty="0"/>
              <a:t>license</a:t>
            </a:r>
            <a:endParaRPr lang="en-US" altLang="zh-CN" dirty="0"/>
          </a:p>
        </p:txBody>
      </p:sp>
      <p:sp>
        <p:nvSpPr>
          <p:cNvPr id="3" name="文本框 2"/>
          <p:cNvSpPr txBox="1"/>
          <p:nvPr/>
        </p:nvSpPr>
        <p:spPr>
          <a:xfrm>
            <a:off x="897890" y="3516630"/>
            <a:ext cx="4064000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1400"/>
              <a:t>备注：新建仓命名规范请参考</a:t>
            </a:r>
            <a:r>
              <a:rPr lang="en-US" altLang="zh-CN" sz="1400"/>
              <a:t>P7</a:t>
            </a:r>
            <a:r>
              <a:rPr lang="zh-CN" altLang="en-US" sz="1400"/>
              <a:t>附录</a:t>
            </a:r>
            <a:endParaRPr lang="zh-CN" altLang="en-US" sz="14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图片 7"/>
          <p:cNvPicPr>
            <a:picLocks noChangeAspect="1"/>
          </p:cNvPicPr>
          <p:nvPr/>
        </p:nvPicPr>
        <p:blipFill>
          <a:blip r:embed="rId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37202" y="6042990"/>
            <a:ext cx="1312676" cy="348426"/>
          </a:xfrm>
          <a:prstGeom prst="rect">
            <a:avLst/>
          </a:prstGeom>
        </p:spPr>
      </p:pic>
      <p:sp>
        <p:nvSpPr>
          <p:cNvPr id="17" name="文本框 16"/>
          <p:cNvSpPr txBox="1"/>
          <p:nvPr/>
        </p:nvSpPr>
        <p:spPr>
          <a:xfrm>
            <a:off x="620201" y="6130454"/>
            <a:ext cx="154721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000" dirty="0">
                <a:solidFill>
                  <a:schemeClr val="bg1">
                    <a:lumMod val="50000"/>
                  </a:schemeClr>
                </a:solidFill>
                <a:latin typeface="+mj-ea"/>
                <a:ea typeface="+mj-ea"/>
                <a:cs typeface="Arial" panose="020B0604020202020204" pitchFamily="34" charset="0"/>
              </a:rPr>
              <a:t>https://gitcode.com/cann</a:t>
            </a:r>
            <a:endParaRPr lang="zh-CN" altLang="en-US" sz="1000" dirty="0">
              <a:solidFill>
                <a:schemeClr val="bg1">
                  <a:lumMod val="50000"/>
                </a:schemeClr>
              </a:solidFill>
              <a:latin typeface="+mj-ea"/>
              <a:ea typeface="+mj-ea"/>
              <a:cs typeface="Arial" panose="020B0604020202020204" pitchFamily="34" charset="0"/>
            </a:endParaRPr>
          </a:p>
        </p:txBody>
      </p:sp>
      <p:sp>
        <p:nvSpPr>
          <p:cNvPr id="16" name="副标题 1"/>
          <p:cNvSpPr txBox="1"/>
          <p:nvPr/>
        </p:nvSpPr>
        <p:spPr>
          <a:xfrm>
            <a:off x="729615" y="326390"/>
            <a:ext cx="11099165" cy="581025"/>
          </a:xfrm>
          <a:prstGeom prst="rect">
            <a:avLst/>
          </a:prstGeom>
        </p:spPr>
        <p:txBody>
          <a:bodyPr lIns="0" tIns="0" rIns="0" bIns="0" anchor="ctr" anchorCtr="0">
            <a:normAutofit/>
          </a:bodyPr>
          <a:lstStyle>
            <a:lvl1pPr marL="0" indent="0" algn="l" defTabSz="1187450" rtl="0" eaLnBrk="1" latinLnBrk="0" hangingPunct="1">
              <a:lnSpc>
                <a:spcPts val="3430"/>
              </a:lnSpc>
              <a:spcBef>
                <a:spcPts val="0"/>
              </a:spcBef>
              <a:buFont typeface="Arial" panose="020B0604020202020204" pitchFamily="34" charset="0"/>
              <a:buNone/>
              <a:defRPr sz="2400" kern="1200" baseline="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defRPr>
            </a:lvl1pPr>
            <a:lvl2pPr marL="593725" indent="0" algn="ctr" defTabSz="1187450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None/>
              <a:defRPr sz="259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87450" indent="0" algn="ctr" defTabSz="1187450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None/>
              <a:defRPr sz="233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781175" indent="0" algn="ctr" defTabSz="1187450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None/>
              <a:defRPr sz="208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374900" indent="0" algn="ctr" defTabSz="1187450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None/>
              <a:defRPr sz="208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967990" indent="0" algn="ctr" defTabSz="1187450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None/>
              <a:defRPr sz="208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561715" indent="0" algn="ctr" defTabSz="1187450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None/>
              <a:defRPr sz="208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155440" indent="0" algn="ctr" defTabSz="1187450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None/>
              <a:defRPr sz="208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749165" indent="0" algn="ctr" defTabSz="1187450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None/>
              <a:defRPr sz="208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zh-CN" altLang="en-US" sz="2800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竞争力描述</a:t>
            </a:r>
            <a:endParaRPr lang="zh-CN" altLang="en-US" sz="2400" b="1" dirty="0">
              <a:solidFill>
                <a:srgbClr val="C00000"/>
              </a:solidFill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729615" y="1191986"/>
            <a:ext cx="1072026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主要竞争力点介绍（功能、性能、生态兼容、易用性等方面）</a:t>
            </a:r>
            <a:endParaRPr lang="zh-CN" altLang="en-US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图片 7"/>
          <p:cNvPicPr>
            <a:picLocks noChangeAspect="1"/>
          </p:cNvPicPr>
          <p:nvPr/>
        </p:nvPicPr>
        <p:blipFill>
          <a:blip r:embed="rId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37202" y="6042990"/>
            <a:ext cx="1312676" cy="348426"/>
          </a:xfrm>
          <a:prstGeom prst="rect">
            <a:avLst/>
          </a:prstGeom>
        </p:spPr>
      </p:pic>
      <p:sp>
        <p:nvSpPr>
          <p:cNvPr id="17" name="文本框 16"/>
          <p:cNvSpPr txBox="1"/>
          <p:nvPr/>
        </p:nvSpPr>
        <p:spPr>
          <a:xfrm>
            <a:off x="620201" y="6130454"/>
            <a:ext cx="154721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000" dirty="0">
                <a:solidFill>
                  <a:schemeClr val="bg1">
                    <a:lumMod val="50000"/>
                  </a:schemeClr>
                </a:solidFill>
                <a:latin typeface="+mj-ea"/>
                <a:ea typeface="+mj-ea"/>
                <a:cs typeface="Arial" panose="020B0604020202020204" pitchFamily="34" charset="0"/>
              </a:rPr>
              <a:t>https://gitcode.com/cann</a:t>
            </a:r>
            <a:endParaRPr lang="zh-CN" altLang="en-US" sz="1000" dirty="0">
              <a:solidFill>
                <a:schemeClr val="bg1">
                  <a:lumMod val="50000"/>
                </a:schemeClr>
              </a:solidFill>
              <a:latin typeface="+mj-ea"/>
              <a:ea typeface="+mj-ea"/>
              <a:cs typeface="Arial" panose="020B0604020202020204" pitchFamily="34" charset="0"/>
            </a:endParaRPr>
          </a:p>
        </p:txBody>
      </p:sp>
      <p:sp>
        <p:nvSpPr>
          <p:cNvPr id="16" name="副标题 1"/>
          <p:cNvSpPr txBox="1"/>
          <p:nvPr/>
        </p:nvSpPr>
        <p:spPr>
          <a:xfrm>
            <a:off x="729615" y="326390"/>
            <a:ext cx="11099165" cy="581025"/>
          </a:xfrm>
          <a:prstGeom prst="rect">
            <a:avLst/>
          </a:prstGeom>
        </p:spPr>
        <p:txBody>
          <a:bodyPr lIns="0" tIns="0" rIns="0" bIns="0" anchor="ctr" anchorCtr="0">
            <a:normAutofit/>
          </a:bodyPr>
          <a:lstStyle>
            <a:lvl1pPr marL="0" indent="0" algn="l" defTabSz="1187450" rtl="0" eaLnBrk="1" latinLnBrk="0" hangingPunct="1">
              <a:lnSpc>
                <a:spcPts val="3430"/>
              </a:lnSpc>
              <a:spcBef>
                <a:spcPts val="0"/>
              </a:spcBef>
              <a:buFont typeface="Arial" panose="020B0604020202020204" pitchFamily="34" charset="0"/>
              <a:buNone/>
              <a:defRPr sz="2400" kern="1200" baseline="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defRPr>
            </a:lvl1pPr>
            <a:lvl2pPr marL="593725" indent="0" algn="ctr" defTabSz="1187450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None/>
              <a:defRPr sz="259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87450" indent="0" algn="ctr" defTabSz="1187450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None/>
              <a:defRPr sz="233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781175" indent="0" algn="ctr" defTabSz="1187450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None/>
              <a:defRPr sz="208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374900" indent="0" algn="ctr" defTabSz="1187450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None/>
              <a:defRPr sz="208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967990" indent="0" algn="ctr" defTabSz="1187450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None/>
              <a:defRPr sz="208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561715" indent="0" algn="ctr" defTabSz="1187450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None/>
              <a:defRPr sz="208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155440" indent="0" algn="ctr" defTabSz="1187450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None/>
              <a:defRPr sz="208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749165" indent="0" algn="ctr" defTabSz="1187450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None/>
              <a:defRPr sz="208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zh-CN" altLang="en-US" sz="2800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洞察对标</a:t>
            </a:r>
            <a:r>
              <a:rPr lang="zh-CN" altLang="en-US" b="1" dirty="0">
                <a:solidFill>
                  <a:srgbClr val="C00000"/>
                </a:solidFill>
                <a:latin typeface="微软雅黑" panose="020B0503020204020204" pitchFamily="34" charset="-122"/>
              </a:rPr>
              <a:t>（不涉及跳过）</a:t>
            </a:r>
            <a:endParaRPr lang="zh-CN" altLang="en-US" sz="2400" b="1" dirty="0">
              <a:solidFill>
                <a:srgbClr val="C00000"/>
              </a:solidFill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729615" y="1191986"/>
            <a:ext cx="1072026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1</a:t>
            </a:r>
            <a:r>
              <a:rPr lang="zh-CN" altLang="en-US" dirty="0"/>
              <a:t>、业界对标</a:t>
            </a:r>
            <a:endParaRPr lang="en-US" altLang="zh-CN" dirty="0"/>
          </a:p>
          <a:p>
            <a:r>
              <a:rPr lang="en-US" altLang="zh-CN" dirty="0"/>
              <a:t>2</a:t>
            </a:r>
            <a:r>
              <a:rPr lang="zh-CN" altLang="en-US" dirty="0"/>
              <a:t>、差异比较</a:t>
            </a:r>
            <a:endParaRPr lang="zh-CN" altLang="en-US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图片 7"/>
          <p:cNvPicPr>
            <a:picLocks noChangeAspect="1"/>
          </p:cNvPicPr>
          <p:nvPr/>
        </p:nvPicPr>
        <p:blipFill>
          <a:blip r:embed="rId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37202" y="6042990"/>
            <a:ext cx="1312676" cy="348426"/>
          </a:xfrm>
          <a:prstGeom prst="rect">
            <a:avLst/>
          </a:prstGeom>
        </p:spPr>
      </p:pic>
      <p:sp>
        <p:nvSpPr>
          <p:cNvPr id="17" name="文本框 16"/>
          <p:cNvSpPr txBox="1"/>
          <p:nvPr/>
        </p:nvSpPr>
        <p:spPr>
          <a:xfrm>
            <a:off x="620201" y="6130454"/>
            <a:ext cx="154721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000" dirty="0">
                <a:solidFill>
                  <a:schemeClr val="bg1">
                    <a:lumMod val="50000"/>
                  </a:schemeClr>
                </a:solidFill>
                <a:latin typeface="+mj-ea"/>
                <a:ea typeface="+mj-ea"/>
                <a:cs typeface="Arial" panose="020B0604020202020204" pitchFamily="34" charset="0"/>
              </a:rPr>
              <a:t>https://gitcode.com/cann</a:t>
            </a:r>
            <a:endParaRPr lang="zh-CN" altLang="en-US" sz="1000" dirty="0">
              <a:solidFill>
                <a:schemeClr val="bg1">
                  <a:lumMod val="50000"/>
                </a:schemeClr>
              </a:solidFill>
              <a:latin typeface="+mj-ea"/>
              <a:ea typeface="+mj-ea"/>
              <a:cs typeface="Arial" panose="020B0604020202020204" pitchFamily="34" charset="0"/>
            </a:endParaRPr>
          </a:p>
        </p:txBody>
      </p:sp>
      <p:sp>
        <p:nvSpPr>
          <p:cNvPr id="16" name="副标题 1"/>
          <p:cNvSpPr txBox="1"/>
          <p:nvPr/>
        </p:nvSpPr>
        <p:spPr>
          <a:xfrm>
            <a:off x="729615" y="326390"/>
            <a:ext cx="11099165" cy="581025"/>
          </a:xfrm>
          <a:prstGeom prst="rect">
            <a:avLst/>
          </a:prstGeom>
        </p:spPr>
        <p:txBody>
          <a:bodyPr lIns="0" tIns="0" rIns="0" bIns="0" anchor="ctr" anchorCtr="0">
            <a:normAutofit/>
          </a:bodyPr>
          <a:lstStyle>
            <a:lvl1pPr marL="0" indent="0" algn="l" defTabSz="1187450" rtl="0" eaLnBrk="1" latinLnBrk="0" hangingPunct="1">
              <a:lnSpc>
                <a:spcPts val="3430"/>
              </a:lnSpc>
              <a:spcBef>
                <a:spcPts val="0"/>
              </a:spcBef>
              <a:buFont typeface="Arial" panose="020B0604020202020204" pitchFamily="34" charset="0"/>
              <a:buNone/>
              <a:defRPr sz="2400" kern="1200" baseline="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defRPr>
            </a:lvl1pPr>
            <a:lvl2pPr marL="593725" indent="0" algn="ctr" defTabSz="1187450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None/>
              <a:defRPr sz="259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87450" indent="0" algn="ctr" defTabSz="1187450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None/>
              <a:defRPr sz="233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781175" indent="0" algn="ctr" defTabSz="1187450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None/>
              <a:defRPr sz="208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374900" indent="0" algn="ctr" defTabSz="1187450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None/>
              <a:defRPr sz="208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967990" indent="0" algn="ctr" defTabSz="1187450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None/>
              <a:defRPr sz="208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561715" indent="0" algn="ctr" defTabSz="1187450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None/>
              <a:defRPr sz="208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155440" indent="0" algn="ctr" defTabSz="1187450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None/>
              <a:defRPr sz="208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749165" indent="0" algn="ctr" defTabSz="1187450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None/>
              <a:defRPr sz="208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zh-CN" altLang="en-US" sz="2800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三方件依赖引入（不涉及跳过）</a:t>
            </a:r>
            <a:endParaRPr lang="zh-CN" altLang="en-US" sz="2400" b="1" dirty="0">
              <a:solidFill>
                <a:srgbClr val="C00000"/>
              </a:solidFill>
            </a:endParaRPr>
          </a:p>
        </p:txBody>
      </p:sp>
      <p:graphicFrame>
        <p:nvGraphicFramePr>
          <p:cNvPr id="3" name="表格 2"/>
          <p:cNvGraphicFramePr>
            <a:graphicFrameLocks noGrp="1"/>
          </p:cNvGraphicFramePr>
          <p:nvPr/>
        </p:nvGraphicFramePr>
        <p:xfrm>
          <a:off x="729615" y="1372808"/>
          <a:ext cx="11378019" cy="28562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47196"/>
                <a:gridCol w="1595618"/>
                <a:gridCol w="1918724"/>
                <a:gridCol w="2017717"/>
                <a:gridCol w="1201097"/>
                <a:gridCol w="1201097"/>
                <a:gridCol w="1355156"/>
                <a:gridCol w="1241414"/>
              </a:tblGrid>
              <a:tr h="943231">
                <a:tc>
                  <a:txBody>
                    <a:bodyPr/>
                    <a:lstStyle/>
                    <a:p>
                      <a:pPr algn="ctr"/>
                      <a:r>
                        <a:rPr lang="zh-CN" altLang="en-US" dirty="0">
                          <a:solidFill>
                            <a:schemeClr val="tx1"/>
                          </a:solidFill>
                        </a:rPr>
                        <a:t>序号</a:t>
                      </a:r>
                      <a:endParaRPr lang="zh-CN" altLang="en-US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dirty="0">
                          <a:solidFill>
                            <a:schemeClr val="tx1"/>
                          </a:solidFill>
                        </a:rPr>
                        <a:t>三方件名称</a:t>
                      </a:r>
                      <a:endParaRPr lang="zh-CN" altLang="en-US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dirty="0">
                          <a:solidFill>
                            <a:schemeClr val="tx1"/>
                          </a:solidFill>
                        </a:rPr>
                        <a:t>上游社区地址</a:t>
                      </a:r>
                      <a:endParaRPr lang="zh-CN" altLang="en-US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dirty="0">
                          <a:solidFill>
                            <a:schemeClr val="tx1"/>
                          </a:solidFill>
                        </a:rPr>
                        <a:t>上游社区状态</a:t>
                      </a:r>
                      <a:endParaRPr lang="en-US" altLang="zh-CN" dirty="0">
                        <a:solidFill>
                          <a:schemeClr val="tx1"/>
                        </a:solidFill>
                      </a:endParaRPr>
                    </a:p>
                    <a:p>
                      <a:pPr algn="ctr"/>
                      <a:r>
                        <a:rPr lang="zh-CN" altLang="en-US" dirty="0">
                          <a:solidFill>
                            <a:schemeClr val="tx1"/>
                          </a:solidFill>
                        </a:rPr>
                        <a:t>（</a:t>
                      </a:r>
                      <a:r>
                        <a:rPr lang="zh-CN" altLang="en-US" sz="1400" dirty="0">
                          <a:solidFill>
                            <a:srgbClr val="0000FF"/>
                          </a:solidFill>
                        </a:rPr>
                        <a:t>发展期、成熟期、衰退期</a:t>
                      </a:r>
                      <a:r>
                        <a:rPr lang="zh-CN" altLang="en-US" dirty="0">
                          <a:solidFill>
                            <a:schemeClr val="tx1"/>
                          </a:solidFill>
                        </a:rPr>
                        <a:t>）</a:t>
                      </a:r>
                      <a:endParaRPr lang="zh-CN" altLang="en-US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dirty="0">
                          <a:solidFill>
                            <a:schemeClr val="tx1"/>
                          </a:solidFill>
                        </a:rPr>
                        <a:t>社区最新发布版本</a:t>
                      </a:r>
                      <a:endParaRPr lang="zh-CN" altLang="en-US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>
                          <a:solidFill>
                            <a:schemeClr val="tx1"/>
                          </a:solidFill>
                        </a:rPr>
                        <a:t>引入版本</a:t>
                      </a:r>
                      <a:endParaRPr lang="zh-CN" altLang="en-US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dirty="0">
                          <a:solidFill>
                            <a:schemeClr val="tx1"/>
                          </a:solidFill>
                        </a:rPr>
                        <a:t>是否正式</a:t>
                      </a:r>
                      <a:endParaRPr lang="en-US" altLang="zh-CN" dirty="0">
                        <a:solidFill>
                          <a:schemeClr val="tx1"/>
                        </a:solidFill>
                      </a:endParaRPr>
                    </a:p>
                    <a:p>
                      <a:pPr algn="ctr"/>
                      <a:r>
                        <a:rPr lang="zh-CN" altLang="en-US" dirty="0">
                          <a:solidFill>
                            <a:schemeClr val="tx1"/>
                          </a:solidFill>
                        </a:rPr>
                        <a:t>发布版本</a:t>
                      </a:r>
                      <a:endParaRPr lang="zh-CN" altLang="en-US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>
                          <a:solidFill>
                            <a:schemeClr val="tx1"/>
                          </a:solidFill>
                        </a:rPr>
                        <a:t>License</a:t>
                      </a:r>
                      <a:endParaRPr lang="zh-CN" altLang="en-US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637687"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637687"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637687"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图片 7"/>
          <p:cNvPicPr>
            <a:picLocks noChangeAspect="1"/>
          </p:cNvPicPr>
          <p:nvPr/>
        </p:nvPicPr>
        <p:blipFill>
          <a:blip r:embed="rId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37202" y="6042990"/>
            <a:ext cx="1312676" cy="348426"/>
          </a:xfrm>
          <a:prstGeom prst="rect">
            <a:avLst/>
          </a:prstGeom>
        </p:spPr>
      </p:pic>
      <p:sp>
        <p:nvSpPr>
          <p:cNvPr id="17" name="文本框 16"/>
          <p:cNvSpPr txBox="1"/>
          <p:nvPr/>
        </p:nvSpPr>
        <p:spPr>
          <a:xfrm>
            <a:off x="620201" y="6130454"/>
            <a:ext cx="154721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000" dirty="0">
                <a:solidFill>
                  <a:schemeClr val="bg1">
                    <a:lumMod val="50000"/>
                  </a:schemeClr>
                </a:solidFill>
                <a:latin typeface="+mj-ea"/>
                <a:ea typeface="+mj-ea"/>
                <a:cs typeface="Arial" panose="020B0604020202020204" pitchFamily="34" charset="0"/>
              </a:rPr>
              <a:t>https://gitcode.com/cann</a:t>
            </a:r>
            <a:endParaRPr lang="zh-CN" altLang="en-US" sz="1000" dirty="0">
              <a:solidFill>
                <a:schemeClr val="bg1">
                  <a:lumMod val="50000"/>
                </a:schemeClr>
              </a:solidFill>
              <a:latin typeface="+mj-ea"/>
              <a:ea typeface="+mj-ea"/>
              <a:cs typeface="Arial" panose="020B0604020202020204" pitchFamily="34" charset="0"/>
            </a:endParaRPr>
          </a:p>
        </p:txBody>
      </p:sp>
      <p:sp>
        <p:nvSpPr>
          <p:cNvPr id="16" name="副标题 1"/>
          <p:cNvSpPr txBox="1"/>
          <p:nvPr/>
        </p:nvSpPr>
        <p:spPr>
          <a:xfrm>
            <a:off x="729615" y="326390"/>
            <a:ext cx="11099165" cy="581025"/>
          </a:xfrm>
          <a:prstGeom prst="rect">
            <a:avLst/>
          </a:prstGeom>
        </p:spPr>
        <p:txBody>
          <a:bodyPr lIns="0" tIns="0" rIns="0" bIns="0" anchor="ctr" anchorCtr="0">
            <a:normAutofit/>
          </a:bodyPr>
          <a:lstStyle>
            <a:lvl1pPr marL="0" indent="0" algn="l" defTabSz="1187450" rtl="0" eaLnBrk="1" latinLnBrk="0" hangingPunct="1">
              <a:lnSpc>
                <a:spcPts val="3430"/>
              </a:lnSpc>
              <a:spcBef>
                <a:spcPts val="0"/>
              </a:spcBef>
              <a:buFont typeface="Arial" panose="020B0604020202020204" pitchFamily="34" charset="0"/>
              <a:buNone/>
              <a:defRPr sz="2400" kern="1200" baseline="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defRPr>
            </a:lvl1pPr>
            <a:lvl2pPr marL="593725" indent="0" algn="ctr" defTabSz="1187450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None/>
              <a:defRPr sz="259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87450" indent="0" algn="ctr" defTabSz="1187450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None/>
              <a:defRPr sz="233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781175" indent="0" algn="ctr" defTabSz="1187450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None/>
              <a:defRPr sz="208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374900" indent="0" algn="ctr" defTabSz="1187450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None/>
              <a:defRPr sz="208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967990" indent="0" algn="ctr" defTabSz="1187450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None/>
              <a:defRPr sz="208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561715" indent="0" algn="ctr" defTabSz="1187450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None/>
              <a:defRPr sz="208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155440" indent="0" algn="ctr" defTabSz="1187450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None/>
              <a:defRPr sz="208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749165" indent="0" algn="ctr" defTabSz="1187450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None/>
              <a:defRPr sz="208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zh-CN" altLang="en-US" sz="2800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附录</a:t>
            </a:r>
            <a:endParaRPr lang="zh-CN" altLang="en-US" sz="2400" b="1" dirty="0">
              <a:solidFill>
                <a:srgbClr val="C00000"/>
              </a:solidFill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729615" y="1191986"/>
            <a:ext cx="10720263" cy="20300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b="1" dirty="0">
                <a:ea typeface="+mn-lt"/>
                <a:cs typeface="+mn-lt"/>
              </a:rPr>
              <a:t>新建仓命名规范：</a:t>
            </a:r>
            <a:endParaRPr lang="zh-CN" altLang="en-US" b="1" dirty="0">
              <a:ea typeface="+mn-lt"/>
              <a:cs typeface="+mn-lt"/>
            </a:endParaRPr>
          </a:p>
          <a:p>
            <a:pPr indent="457200"/>
            <a:r>
              <a:rPr lang="en-US" altLang="zh-CN" dirty="0">
                <a:ea typeface="+mn-lt"/>
                <a:cs typeface="+mn-lt"/>
              </a:rPr>
              <a:t>1</a:t>
            </a:r>
            <a:r>
              <a:rPr lang="zh-CN" altLang="en-US" dirty="0">
                <a:ea typeface="+mn-lt"/>
                <a:cs typeface="+mn-lt"/>
              </a:rPr>
              <a:t>、简洁清晰：有明确的含义，能够直观地反映项目功能或用途，简介易记，避免冗长。</a:t>
            </a:r>
            <a:endParaRPr lang="zh-CN" altLang="en-US" dirty="0">
              <a:ea typeface="+mn-lt"/>
              <a:cs typeface="+mn-lt"/>
            </a:endParaRPr>
          </a:p>
          <a:p>
            <a:pPr indent="457200"/>
            <a:r>
              <a:rPr lang="en-US" altLang="zh-CN" dirty="0">
                <a:ea typeface="+mn-lt"/>
                <a:cs typeface="+mn-lt"/>
              </a:rPr>
              <a:t>2</a:t>
            </a:r>
            <a:r>
              <a:rPr lang="zh-CN" altLang="en-US" dirty="0">
                <a:ea typeface="+mn-lt"/>
                <a:cs typeface="+mn-lt"/>
              </a:rPr>
              <a:t>、名词优先：使用意义完整的英文描述，建议优先使用名词</a:t>
            </a:r>
            <a:r>
              <a:rPr lang="en-US" altLang="zh-CN" dirty="0">
                <a:ea typeface="+mn-lt"/>
                <a:cs typeface="+mn-lt"/>
              </a:rPr>
              <a:t>/</a:t>
            </a:r>
            <a:r>
              <a:rPr lang="zh-CN" altLang="en-US" dirty="0">
                <a:ea typeface="+mn-lt"/>
                <a:cs typeface="+mn-lt"/>
              </a:rPr>
              <a:t>名词短语，少动词、形容词。</a:t>
            </a:r>
            <a:endParaRPr lang="zh-CN" altLang="en-US" dirty="0">
              <a:ea typeface="+mn-lt"/>
              <a:cs typeface="+mn-lt"/>
            </a:endParaRPr>
          </a:p>
          <a:p>
            <a:pPr indent="457200"/>
            <a:r>
              <a:rPr lang="en-US" altLang="zh-CN" dirty="0">
                <a:ea typeface="+mn-lt"/>
                <a:cs typeface="+mn-lt"/>
              </a:rPr>
              <a:t>3</a:t>
            </a:r>
            <a:r>
              <a:rPr lang="zh-CN" altLang="en-US" dirty="0">
                <a:ea typeface="+mn-lt"/>
                <a:cs typeface="+mn-lt"/>
              </a:rPr>
              <a:t>、统一格式：全小写，中划线分割（</a:t>
            </a:r>
            <a:r>
              <a:rPr lang="en-US" altLang="zh-CN" dirty="0">
                <a:ea typeface="+mn-lt"/>
                <a:cs typeface="+mn-lt"/>
              </a:rPr>
              <a:t>lower-with-hyphen</a:t>
            </a:r>
            <a:r>
              <a:rPr lang="zh-CN" altLang="en-US" dirty="0">
                <a:ea typeface="+mn-lt"/>
                <a:cs typeface="+mn-lt"/>
              </a:rPr>
              <a:t>），无空格</a:t>
            </a:r>
            <a:r>
              <a:rPr lang="en-US" altLang="zh-CN" dirty="0">
                <a:ea typeface="+mn-lt"/>
                <a:cs typeface="+mn-lt"/>
              </a:rPr>
              <a:t>/</a:t>
            </a:r>
            <a:r>
              <a:rPr lang="zh-CN" altLang="en-US" dirty="0">
                <a:ea typeface="+mn-lt"/>
                <a:cs typeface="+mn-lt"/>
              </a:rPr>
              <a:t>下划线</a:t>
            </a:r>
            <a:r>
              <a:rPr lang="en-US" altLang="zh-CN" dirty="0">
                <a:ea typeface="+mn-lt"/>
                <a:cs typeface="+mn-lt"/>
              </a:rPr>
              <a:t>/</a:t>
            </a:r>
            <a:r>
              <a:rPr lang="zh-CN" altLang="en-US" dirty="0">
                <a:ea typeface="+mn-lt"/>
                <a:cs typeface="+mn-lt"/>
              </a:rPr>
              <a:t>驼峰</a:t>
            </a:r>
            <a:r>
              <a:rPr lang="en-US" altLang="zh-CN" dirty="0">
                <a:ea typeface="+mn-lt"/>
                <a:cs typeface="+mn-lt"/>
              </a:rPr>
              <a:t>/</a:t>
            </a:r>
            <a:r>
              <a:rPr lang="zh-CN" altLang="en-US" dirty="0">
                <a:ea typeface="+mn-lt"/>
                <a:cs typeface="+mn-lt"/>
              </a:rPr>
              <a:t>特殊字符，单词数量建议不超过</a:t>
            </a:r>
            <a:r>
              <a:rPr lang="en-US" altLang="zh-CN" dirty="0">
                <a:ea typeface="+mn-lt"/>
                <a:cs typeface="+mn-lt"/>
              </a:rPr>
              <a:t>3</a:t>
            </a:r>
            <a:r>
              <a:rPr lang="zh-CN" altLang="en-US" dirty="0">
                <a:ea typeface="+mn-lt"/>
                <a:cs typeface="+mn-lt"/>
              </a:rPr>
              <a:t>个。</a:t>
            </a:r>
            <a:endParaRPr lang="zh-CN" altLang="en-US" dirty="0">
              <a:ea typeface="+mn-lt"/>
              <a:cs typeface="+mn-lt"/>
            </a:endParaRPr>
          </a:p>
          <a:p>
            <a:pPr indent="457200"/>
            <a:r>
              <a:rPr lang="en-US" altLang="zh-CN" dirty="0">
                <a:ea typeface="+mn-lt"/>
                <a:cs typeface="+mn-lt"/>
              </a:rPr>
              <a:t>4</a:t>
            </a:r>
            <a:r>
              <a:rPr lang="zh-CN" altLang="en-US" dirty="0">
                <a:ea typeface="+mn-lt"/>
                <a:cs typeface="+mn-lt"/>
              </a:rPr>
              <a:t>、唯一不重复：不与现有仓库重名。</a:t>
            </a:r>
            <a:endParaRPr lang="zh-CN" altLang="en-US" dirty="0">
              <a:ea typeface="+mn-lt"/>
              <a:cs typeface="+mn-lt"/>
            </a:endParaRPr>
          </a:p>
          <a:p>
            <a:pPr indent="457200"/>
            <a:r>
              <a:rPr lang="en-US" altLang="zh-CN" dirty="0">
                <a:ea typeface="+mn-lt"/>
                <a:cs typeface="+mn-lt"/>
              </a:rPr>
              <a:t>5</a:t>
            </a:r>
            <a:r>
              <a:rPr lang="zh-CN" altLang="en-US" dirty="0">
                <a:ea typeface="+mn-lt"/>
                <a:cs typeface="+mn-lt"/>
              </a:rPr>
              <a:t>、命名格式：</a:t>
            </a:r>
            <a:r>
              <a:rPr lang="en-US" altLang="zh-CN" dirty="0">
                <a:ea typeface="+mn-lt"/>
                <a:cs typeface="+mn-lt"/>
              </a:rPr>
              <a:t>&lt;</a:t>
            </a:r>
            <a:r>
              <a:rPr lang="zh-CN" altLang="en-US" dirty="0">
                <a:ea typeface="+mn-lt"/>
                <a:cs typeface="+mn-lt"/>
              </a:rPr>
              <a:t>项目功能</a:t>
            </a:r>
            <a:r>
              <a:rPr lang="en-US" altLang="zh-CN" dirty="0">
                <a:ea typeface="+mn-lt"/>
                <a:cs typeface="+mn-lt"/>
              </a:rPr>
              <a:t>&gt;</a:t>
            </a:r>
            <a:r>
              <a:rPr lang="zh-CN" altLang="en-US" dirty="0">
                <a:ea typeface="+mn-lt"/>
                <a:cs typeface="+mn-lt"/>
              </a:rPr>
              <a:t>，例如</a:t>
            </a:r>
            <a:r>
              <a:rPr lang="en-US" altLang="zh-CN" dirty="0">
                <a:ea typeface="+mn-lt"/>
                <a:cs typeface="+mn-lt"/>
              </a:rPr>
              <a:t>hccl</a:t>
            </a:r>
            <a:r>
              <a:rPr lang="zh-CN" altLang="en-US" dirty="0">
                <a:ea typeface="+mn-lt"/>
                <a:cs typeface="+mn-lt"/>
              </a:rPr>
              <a:t>、</a:t>
            </a:r>
            <a:r>
              <a:rPr lang="en-US" altLang="zh-CN" dirty="0">
                <a:ea typeface="+mn-lt"/>
                <a:cs typeface="+mn-lt"/>
              </a:rPr>
              <a:t>ops-math</a:t>
            </a:r>
            <a:r>
              <a:rPr lang="zh-CN" altLang="en-US" dirty="0">
                <a:ea typeface="+mn-lt"/>
                <a:cs typeface="+mn-lt"/>
              </a:rPr>
              <a:t>。</a:t>
            </a:r>
            <a:endParaRPr lang="zh-CN" altLang="en-US" dirty="0">
              <a:ea typeface="+mn-lt"/>
              <a:cs typeface="+mn-lt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/>
          <p:cNvSpPr txBox="1"/>
          <p:nvPr/>
        </p:nvSpPr>
        <p:spPr>
          <a:xfrm>
            <a:off x="874644" y="1208599"/>
            <a:ext cx="3608680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5400" dirty="0">
                <a:latin typeface="Arial" panose="020B0604020202020204" pitchFamily="34" charset="0"/>
                <a:cs typeface="Arial" panose="020B0604020202020204" pitchFamily="34" charset="0"/>
              </a:rPr>
              <a:t>Thank you.</a:t>
            </a:r>
            <a:endParaRPr lang="zh-CN" altLang="en-US" sz="5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文本框 2"/>
          <p:cNvSpPr txBox="1"/>
          <p:nvPr/>
        </p:nvSpPr>
        <p:spPr>
          <a:xfrm>
            <a:off x="6400801" y="1393264"/>
            <a:ext cx="4699220" cy="23259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zh-CN" altLang="en-US" sz="1200" dirty="0">
                <a:solidFill>
                  <a:schemeClr val="bg1">
                    <a:lumMod val="50000"/>
                  </a:schemeClr>
                </a:solidFill>
                <a:latin typeface="宋体" panose="02010600030101010101" pitchFamily="2" charset="-122"/>
                <a:ea typeface="宋体" panose="02010600030101010101" pitchFamily="2" charset="-122"/>
                <a:cs typeface="Arial" panose="020B0604020202020204" pitchFamily="34" charset="0"/>
              </a:rPr>
              <a:t>社区愿景：打造开放易用、技术领先的</a:t>
            </a:r>
            <a:r>
              <a:rPr lang="en-US" altLang="zh-CN" sz="1200" dirty="0">
                <a:solidFill>
                  <a:schemeClr val="bg1">
                    <a:lumMod val="50000"/>
                  </a:schemeClr>
                </a:solidFill>
                <a:latin typeface="宋体" panose="02010600030101010101" pitchFamily="2" charset="-122"/>
                <a:ea typeface="宋体" panose="02010600030101010101" pitchFamily="2" charset="-122"/>
                <a:cs typeface="Arial" panose="020B0604020202020204" pitchFamily="34" charset="0"/>
              </a:rPr>
              <a:t>AI</a:t>
            </a:r>
            <a:r>
              <a:rPr lang="zh-CN" altLang="en-US" sz="1200" dirty="0">
                <a:solidFill>
                  <a:schemeClr val="bg1">
                    <a:lumMod val="50000"/>
                  </a:schemeClr>
                </a:solidFill>
                <a:latin typeface="宋体" panose="02010600030101010101" pitchFamily="2" charset="-122"/>
                <a:ea typeface="宋体" panose="02010600030101010101" pitchFamily="2" charset="-122"/>
                <a:cs typeface="Arial" panose="020B0604020202020204" pitchFamily="34" charset="0"/>
              </a:rPr>
              <a:t>算力新生态</a:t>
            </a:r>
            <a:endParaRPr lang="en-US" altLang="zh-CN" sz="1200" dirty="0">
              <a:solidFill>
                <a:schemeClr val="bg1">
                  <a:lumMod val="50000"/>
                </a:schemeClr>
              </a:solidFill>
              <a:latin typeface="宋体" panose="02010600030101010101" pitchFamily="2" charset="-122"/>
              <a:ea typeface="宋体" panose="02010600030101010101" pitchFamily="2" charset="-122"/>
              <a:cs typeface="Arial" panose="020B0604020202020204" pitchFamily="34" charset="0"/>
            </a:endParaRPr>
          </a:p>
          <a:p>
            <a:pPr>
              <a:lnSpc>
                <a:spcPct val="150000"/>
              </a:lnSpc>
            </a:pPr>
            <a:r>
              <a:rPr lang="zh-CN" altLang="en-US" sz="1200" dirty="0">
                <a:solidFill>
                  <a:schemeClr val="bg1">
                    <a:lumMod val="50000"/>
                  </a:schemeClr>
                </a:solidFill>
                <a:latin typeface="宋体" panose="02010600030101010101" pitchFamily="2" charset="-122"/>
                <a:ea typeface="宋体" panose="02010600030101010101" pitchFamily="2" charset="-122"/>
                <a:cs typeface="Arial" panose="020B0604020202020204" pitchFamily="34" charset="0"/>
              </a:rPr>
              <a:t>社区使命：使能开发者基于</a:t>
            </a:r>
            <a:r>
              <a:rPr lang="en-US" altLang="zh-CN" sz="1200" dirty="0">
                <a:solidFill>
                  <a:schemeClr val="bg1">
                    <a:lumMod val="50000"/>
                  </a:schemeClr>
                </a:solidFill>
                <a:latin typeface="宋体" panose="02010600030101010101" pitchFamily="2" charset="-122"/>
                <a:ea typeface="宋体" panose="02010600030101010101" pitchFamily="2" charset="-122"/>
                <a:cs typeface="Arial" panose="020B0604020202020204" pitchFamily="34" charset="0"/>
              </a:rPr>
              <a:t>CANN</a:t>
            </a:r>
            <a:r>
              <a:rPr lang="zh-CN" altLang="en-US" sz="1200" dirty="0">
                <a:solidFill>
                  <a:schemeClr val="bg1">
                    <a:lumMod val="50000"/>
                  </a:schemeClr>
                </a:solidFill>
                <a:latin typeface="宋体" panose="02010600030101010101" pitchFamily="2" charset="-122"/>
                <a:ea typeface="宋体" panose="02010600030101010101" pitchFamily="2" charset="-122"/>
                <a:cs typeface="Arial" panose="020B0604020202020204" pitchFamily="34" charset="0"/>
              </a:rPr>
              <a:t>社区自主研究创新，构筑根深叶茂、跨产业协同共享共赢的</a:t>
            </a:r>
            <a:r>
              <a:rPr lang="en-US" altLang="zh-CN" sz="1200" dirty="0">
                <a:solidFill>
                  <a:schemeClr val="bg1">
                    <a:lumMod val="50000"/>
                  </a:schemeClr>
                </a:solidFill>
                <a:latin typeface="宋体" panose="02010600030101010101" pitchFamily="2" charset="-122"/>
                <a:ea typeface="宋体" panose="02010600030101010101" pitchFamily="2" charset="-122"/>
                <a:cs typeface="Arial" panose="020B0604020202020204" pitchFamily="34" charset="0"/>
              </a:rPr>
              <a:t>CANN</a:t>
            </a:r>
            <a:r>
              <a:rPr lang="zh-CN" altLang="en-US" sz="1200" dirty="0">
                <a:solidFill>
                  <a:schemeClr val="bg1">
                    <a:lumMod val="50000"/>
                  </a:schemeClr>
                </a:solidFill>
                <a:latin typeface="宋体" panose="02010600030101010101" pitchFamily="2" charset="-122"/>
                <a:ea typeface="宋体" panose="02010600030101010101" pitchFamily="2" charset="-122"/>
                <a:cs typeface="Arial" panose="020B0604020202020204" pitchFamily="34" charset="0"/>
              </a:rPr>
              <a:t>生态</a:t>
            </a:r>
            <a:endParaRPr lang="en-US" altLang="zh-CN" sz="1200" dirty="0">
              <a:solidFill>
                <a:schemeClr val="bg1">
                  <a:lumMod val="50000"/>
                </a:schemeClr>
              </a:solidFill>
              <a:latin typeface="宋体" panose="02010600030101010101" pitchFamily="2" charset="-122"/>
              <a:ea typeface="宋体" panose="02010600030101010101" pitchFamily="2" charset="-122"/>
              <a:cs typeface="Arial" panose="020B0604020202020204" pitchFamily="34" charset="0"/>
            </a:endParaRPr>
          </a:p>
          <a:p>
            <a:pPr>
              <a:lnSpc>
                <a:spcPct val="150000"/>
              </a:lnSpc>
            </a:pPr>
            <a:endParaRPr lang="en-US" altLang="zh-CN" sz="1200" dirty="0">
              <a:solidFill>
                <a:schemeClr val="bg1">
                  <a:lumMod val="50000"/>
                </a:schemeClr>
              </a:solidFill>
              <a:latin typeface="+mn-ea"/>
            </a:endParaRPr>
          </a:p>
          <a:p>
            <a:pPr>
              <a:lnSpc>
                <a:spcPct val="150000"/>
              </a:lnSpc>
            </a:pPr>
            <a:r>
              <a:rPr lang="en-US" altLang="zh-CN" sz="1000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Vision: Building an Open, Easy-to-Use, and Technology-leading AI Computing Ecosystem</a:t>
            </a:r>
            <a:endParaRPr lang="en-US" altLang="zh-CN" sz="1000" dirty="0">
              <a:solidFill>
                <a:schemeClr val="bg1">
                  <a:lumMod val="50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ct val="150000"/>
              </a:lnSpc>
            </a:pPr>
            <a:r>
              <a:rPr lang="en-US" altLang="zh-CN" sz="1000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Mission: Enable developers to independently research and innovate based on the CANN community and build a win-win CANN ecosystem with deep roots and cross-industry collaboration and sharing.</a:t>
            </a:r>
            <a:endParaRPr lang="zh-CN" altLang="en-US" sz="1000" dirty="0">
              <a:solidFill>
                <a:schemeClr val="bg1">
                  <a:lumMod val="50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5" name="图片 4"/>
          <p:cNvPicPr>
            <a:picLocks noChangeAspect="1"/>
          </p:cNvPicPr>
          <p:nvPr/>
        </p:nvPicPr>
        <p:blipFill>
          <a:blip r:embed="rId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25587" y="3938025"/>
            <a:ext cx="1600438" cy="1600438"/>
          </a:xfrm>
          <a:prstGeom prst="rect">
            <a:avLst/>
          </a:prstGeom>
        </p:spPr>
      </p:pic>
      <p:pic>
        <p:nvPicPr>
          <p:cNvPr id="8" name="图片 7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37202" y="6042990"/>
            <a:ext cx="1312676" cy="348426"/>
          </a:xfrm>
          <a:prstGeom prst="rect">
            <a:avLst/>
          </a:prstGeom>
        </p:spPr>
      </p:pic>
      <p:sp>
        <p:nvSpPr>
          <p:cNvPr id="9" name="文本框 8"/>
          <p:cNvSpPr txBox="1"/>
          <p:nvPr/>
        </p:nvSpPr>
        <p:spPr>
          <a:xfrm>
            <a:off x="7056392" y="5538463"/>
            <a:ext cx="1430200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000" dirty="0"/>
              <a:t>上</a:t>
            </a:r>
            <a:r>
              <a:rPr lang="en-US" altLang="zh-CN" sz="1000" dirty="0"/>
              <a:t>CANN</a:t>
            </a:r>
            <a:r>
              <a:rPr lang="zh-CN" altLang="en-US" sz="1000" dirty="0"/>
              <a:t>社区获取干货</a:t>
            </a:r>
            <a:endParaRPr lang="zh-CN" altLang="en-US" sz="1000" dirty="0"/>
          </a:p>
        </p:txBody>
      </p:sp>
      <p:sp>
        <p:nvSpPr>
          <p:cNvPr id="11" name="文本框 10"/>
          <p:cNvSpPr txBox="1"/>
          <p:nvPr/>
        </p:nvSpPr>
        <p:spPr>
          <a:xfrm>
            <a:off x="8741387" y="5538463"/>
            <a:ext cx="1686680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000" dirty="0"/>
              <a:t>关注</a:t>
            </a:r>
            <a:r>
              <a:rPr lang="en-US" altLang="zh-CN" sz="1000" dirty="0"/>
              <a:t>CANN</a:t>
            </a:r>
            <a:r>
              <a:rPr lang="zh-CN" altLang="en-US" sz="1000" dirty="0"/>
              <a:t>公众号获取资讯</a:t>
            </a:r>
            <a:endParaRPr lang="zh-CN" altLang="en-US" sz="1000" dirty="0"/>
          </a:p>
        </p:txBody>
      </p:sp>
      <p:sp>
        <p:nvSpPr>
          <p:cNvPr id="14" name="文本框 13"/>
          <p:cNvSpPr txBox="1"/>
          <p:nvPr/>
        </p:nvSpPr>
        <p:spPr>
          <a:xfrm>
            <a:off x="620201" y="6130454"/>
            <a:ext cx="154721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000" dirty="0">
                <a:solidFill>
                  <a:schemeClr val="bg1">
                    <a:lumMod val="50000"/>
                  </a:schemeClr>
                </a:solidFill>
                <a:latin typeface="+mj-ea"/>
                <a:ea typeface="+mj-ea"/>
                <a:cs typeface="Arial" panose="020B0604020202020204" pitchFamily="34" charset="0"/>
              </a:rPr>
              <a:t>https://gitcode.com/cann</a:t>
            </a:r>
            <a:endParaRPr lang="zh-CN" altLang="en-US" sz="1000" dirty="0">
              <a:solidFill>
                <a:schemeClr val="bg1">
                  <a:lumMod val="50000"/>
                </a:schemeClr>
              </a:solidFill>
              <a:latin typeface="+mj-ea"/>
              <a:ea typeface="+mj-ea"/>
              <a:cs typeface="Arial" panose="020B0604020202020204" pitchFamily="34" charset="0"/>
            </a:endParaRPr>
          </a:p>
        </p:txBody>
      </p:sp>
      <p:pic>
        <p:nvPicPr>
          <p:cNvPr id="6" name="图片 5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96584" y="3898269"/>
            <a:ext cx="1686679" cy="1686679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1084</Words>
  <Application>WPS 演示</Application>
  <PresentationFormat>宽屏</PresentationFormat>
  <Paragraphs>90</Paragraphs>
  <Slides>8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8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8</vt:i4>
      </vt:variant>
    </vt:vector>
  </HeadingPairs>
  <TitlesOfParts>
    <vt:vector size="17" baseType="lpstr">
      <vt:lpstr>Arial</vt:lpstr>
      <vt:lpstr>宋体</vt:lpstr>
      <vt:lpstr>Wingdings</vt:lpstr>
      <vt:lpstr>微软雅黑</vt:lpstr>
      <vt:lpstr>等线 Light</vt:lpstr>
      <vt:lpstr>Arial Unicode MS</vt:lpstr>
      <vt:lpstr>等线</vt:lpstr>
      <vt:lpstr>Calibri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Administrator</cp:lastModifiedBy>
  <cp:revision>10</cp:revision>
  <dcterms:created xsi:type="dcterms:W3CDTF">2026-02-27T07:20:30Z</dcterms:created>
  <dcterms:modified xsi:type="dcterms:W3CDTF">2026-02-27T07:31:57Z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3DDF482C71CEA81A27D3D8686004DB1C_42</vt:lpwstr>
  </property>
  <property fmtid="{D5CDD505-2E9C-101B-9397-08002B2CF9AE}" pid="3" name="KSOProductBuildVer">
    <vt:lpwstr>2052-12.1.0.25222</vt:lpwstr>
  </property>
</Properties>
</file>